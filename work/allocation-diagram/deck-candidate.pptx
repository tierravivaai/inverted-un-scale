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aaee39bb584c21" /><Relationship Type="http://schemas.openxmlformats.org/officeDocument/2006/relationships/extended-properties" Target="/docProps/app.xml" Id="Rf39fb614def34f1d" /><Relationship Type="http://schemas.openxmlformats.org/officeDocument/2006/relationships/officeDocument" Target="/ppt/presentation.xml" Id="Re373c9fbee2c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3c38ff4494b76"/>
  </p:sldMasterIdLst>
  <p:notesMasterIdLst>
    <p:notesMasterId xmlns:r="http://schemas.openxmlformats.org/officeDocument/2006/relationships" r:id="R59a4eb546b4d42f8"/>
  </p:notesMasterIdLst>
  <p:sldIdLst>
    <p:sldId xmlns:r="http://schemas.openxmlformats.org/officeDocument/2006/relationships" id="256" r:id="Rfd59ecc372ed4221"/>
    <p:sldId xmlns:r="http://schemas.openxmlformats.org/officeDocument/2006/relationships" id="257" r:id="Rff96da3d6e584b1f"/>
    <p:sldId xmlns:r="http://schemas.openxmlformats.org/officeDocument/2006/relationships" id="258" r:id="R5137f28afcb944e3"/>
    <p:sldId xmlns:r="http://schemas.openxmlformats.org/officeDocument/2006/relationships" id="259" r:id="R1967a6bcca354d4a"/>
    <p:sldId xmlns:r="http://schemas.openxmlformats.org/officeDocument/2006/relationships" id="260" r:id="Rf6985dcea2b94c45"/>
    <p:sldId xmlns:r="http://schemas.openxmlformats.org/officeDocument/2006/relationships" id="261" r:id="R3dafdcf5258e41f0"/>
    <p:sldId xmlns:r="http://schemas.openxmlformats.org/officeDocument/2006/relationships" id="262" r:id="Rd24a6294d29f4a3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0b6e955364bcc" /><Relationship Type="http://schemas.openxmlformats.org/officeDocument/2006/relationships/slideMaster" Target="/ppt/slideMasters/slideMaster1.xml" Id="R08f3c38ff4494b76" /><Relationship Type="http://schemas.openxmlformats.org/officeDocument/2006/relationships/notesMaster" Target="/ppt/notesMasters/notesMaster1.xml" Id="R59a4eb546b4d42f8" /><Relationship Type="http://schemas.openxmlformats.org/officeDocument/2006/relationships/presProps" Target="/ppt/presProps.xml" Id="R8228225b03ed4149" /><Relationship Type="http://schemas.openxmlformats.org/officeDocument/2006/relationships/tableStyles" Target="/ppt/tableStyles.xml" Id="R55991922119a4333" /><Relationship Type="http://schemas.openxmlformats.org/officeDocument/2006/relationships/slide" Target="/ppt/slides/slide1.xml" Id="Rfd59ecc372ed4221" /><Relationship Type="http://schemas.openxmlformats.org/officeDocument/2006/relationships/slide" Target="/ppt/slides/slide2.xml" Id="Rff96da3d6e584b1f" /><Relationship Type="http://schemas.openxmlformats.org/officeDocument/2006/relationships/slide" Target="/ppt/slides/slide3.xml" Id="R5137f28afcb944e3" /><Relationship Type="http://schemas.openxmlformats.org/officeDocument/2006/relationships/slide" Target="/ppt/slides/slide4.xml" Id="R1967a6bcca354d4a" /><Relationship Type="http://schemas.openxmlformats.org/officeDocument/2006/relationships/slide" Target="/ppt/slides/slide5.xml" Id="Rf6985dcea2b94c45" /><Relationship Type="http://schemas.openxmlformats.org/officeDocument/2006/relationships/slide" Target="/ppt/slides/slide6.xml" Id="R3dafdcf5258e41f0" /><Relationship Type="http://schemas.openxmlformats.org/officeDocument/2006/relationships/slide" Target="/ppt/slides/slide7.xml" Id="Rd24a6294d29f4a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4e0e0de0c140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be5e44da6e4ef4" /><Relationship Type="http://schemas.openxmlformats.org/officeDocument/2006/relationships/notesMaster" Target="/ppt/notesMasters/notesMaster1.xml" Id="Re5be80fc9b984e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e56c2b465b4a92" /><Relationship Type="http://schemas.openxmlformats.org/officeDocument/2006/relationships/notesMaster" Target="/ppt/notesMasters/notesMaster1.xml" Id="R4594aab45fc646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194c99d0db4f1e" /><Relationship Type="http://schemas.openxmlformats.org/officeDocument/2006/relationships/notesMaster" Target="/ppt/notesMasters/notesMaster1.xml" Id="R258b3e3d68a745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451b65c7494458" /><Relationship Type="http://schemas.openxmlformats.org/officeDocument/2006/relationships/notesMaster" Target="/ppt/notesMasters/notesMaster1.xml" Id="R5f25ed8fca2e4d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c598b1bf884692" /><Relationship Type="http://schemas.openxmlformats.org/officeDocument/2006/relationships/notesMaster" Target="/ppt/notesMasters/notesMaster1.xml" Id="R0832f000087141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276937803a4941" /><Relationship Type="http://schemas.openxmlformats.org/officeDocument/2006/relationships/notesMaster" Target="/ppt/notesMasters/notesMaster1.xml" Id="R0d2e6faeac24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3d2278f3d4f88" /><Relationship Type="http://schemas.openxmlformats.org/officeDocument/2006/relationships/notesMaster" Target="/ppt/notesMasters/notesMaster1.xml" Id="R3446c3ec0bf342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user-supplied cali-allocation-blocks.pptx slide 1 and CBD/DSI/AHTEG/2026/2/3 Annex II. https://www.cbd.int/doc/c/db87/84a9/9022dd04f7afc8880d009149/dsi-ahteg-2026-02-03-en.pdf . This slide concerns the recipient-Party allocation pool, not a division of the whole fund between Parties and indigenous peoples and local communities. Equality Base is spelled out to distinguish it from criterion B. The original 50% base is modified by a 25% base uplift for LDC/SIDS under the GNI option. Weights and other details follow the report, including the current lack of applicable data for criterion B. This is a summary redrawn for widescreen, not an exact reproduction of the original block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 (12 October 2026):</a:t>
            </a:r>
          </a:p>
          <a:p xmlns:a="http://schemas.openxmlformats.org/drawingml/2006/main">
            <a:r>
              <a:t>UN Committee on Contributions, scale of assessments 2025–2027: https://www.un.org/en/ga/contributions/budget.shtml and https://www.un.org/ldcportal/node/933 . GNI is the starting point, with debt-burden and low-per-capita-income adjustments, minimum assessment and ceilings. The UN agreement concerns contributions, not adoption of IUSAF for Cali allocations.</a:t>
            </a:r>
          </a:p>
          <a:p xmlns:a="http://schemas.openxmlformats.org/drawingml/2006/main">
            <a:r>
              <a:t>World Bank, GNI per capita methodology and limitations: https://datahelpdesk.worldbank.org/knowledgebase/articles/378831-why-use-gni-per-capita-to-classify-economies-into and https://datahelpdesk.worldbank.org/knowledgebase/articles/378832-what-is-the-world-bank-atlas-method . GNI per capita does not describe within-country inequality. Atlas conversion smooths but does not eliminate exchange-rate effects. Data availability and reference-year choices require checking under either approach.</a:t>
            </a:r>
          </a:p>
          <a:p xmlns:a="http://schemas.openxmlformats.org/drawingml/2006/main">
            <a:r>
              <a:t>IUSAF banding and 3.75:1 ratio: user's paper and modelling files previously inspected in this task, https://papers.ssrn.com/sol3/papers.cfm?abstract_id=6809586 . IUSAF here means the banded version, not raw reciprocal UN assessments.</a:t>
            </a:r>
          </a:p>
          <a:p xmlns:a="http://schemas.openxmlformats.org/drawingml/2006/main">
            <a:r>
              <a:t>Analytical deductions: with equal treatment of Parties and normalized reciprocal weighting, inverse total GNI favours smaller economies whereas inverse per-capita GNI favours lower income per person. Raw reciprocal sensitivity and concentration depend on data spread. Continuous differentiation applies before introducing bands. Band thresholds and within-band equality are consequences of the banded model.</a:t>
            </a:r>
          </a:p>
          <a:p xmlns:a="http://schemas.openxmlformats.org/drawingml/2006/main">
            <a:r>
              <a:t>Fair comparison: distinguish the capacity indicator from the transformation. Either GNI or UN assessments can be banded, smoothed or given a chosen ratio range. Neither input directly measures biodiversity stewardship. Both require explicit treatment of missing data, allocation normalization, and integration with the Equality Base and other criteria. AHTEG report CBD/DSI/AHTEG/2026/2/3, Annex II paragraphs 4(c) and 5 (pages 10–11): https://www.cbd.int/doc/c/db87/84a9/9022dd04f7afc8880d009149/dsi-ahteg-2026-02-03-en.pdf . The report specifies per-capita GNI. The 25% uplift is relative to the base allocation, not 25 percentage points of the fund. Paragraph 28 discusses the weak biodiversity-specific connection of these proxies. Exact inversion and normalisation should be checked in the implementation before quantitative comparisons. No numerical ranking or claim of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 shares by band within the 142-Party cohort. UN assessment shares normalized within the cohort for this comparison.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UN assessments, banded zoom, raw inversion and banded IUSAF. Independent vertical scales within the zoom.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stewardship scenarios with SOSAC 3% and TSAC 0%, 1.5%, 2.5% and 3%. The 3% boundary marginally reverses Band 5 and Band 6 mean ordering.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cali-allocation-blocks.pptx, slide 2, and subsequent user clarifications. This is a possible solution, not an assertion of an adopted AHTEG allocation formula. Equality Base is distinct from criterion B (DSI). The user requested teal for Equality Base plus criterion C through IUSAF, gold for Biodiversity Stewardship Index criteria A, B and D, and a grey IPBES Rapid Assessment process block feeding the index. No component weights, 50:50 split, country scores or disbursement mechanism are implied. DSI = digital sequence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Appendix: full UN assessment distribution for 193 assessed Member States, before recipient eligibility filtering.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b720a87d740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25be8d6c341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b2512609a4a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046fa056e42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ea7e67bdd4d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9096288f14c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371914-C2EC-4E01-9F7E-F612CBBF44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E4091F-3334-4840-9B58-37EFAD5EB4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9756A4-6867-4DEF-8DA2-93F38ED42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717C97-287A-40CA-B903-DE1AD4634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CC7CDD-9C2F-433F-931A-44B9DB339C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B4566F-1A0D-4A65-8599-63BE43A49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613D88-8D02-4080-A0A9-6C1354D91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041E73-3724-404F-9908-2E3B99E900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C14CDC-F3F8-4769-B8A0-416180B6B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F6BAFA-8EF3-4098-AE18-A678F235C0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2b72faaa54ffa" /><Relationship Type="http://schemas.openxmlformats.org/officeDocument/2006/relationships/slideLayout" Target="/ppt/slideLayouts/slideLayout1.xml" Id="Rab7357d4bc324d6c" /><Relationship Type="http://schemas.openxmlformats.org/officeDocument/2006/relationships/slideLayout" Target="/ppt/slideLayouts/slideLayout2.xml" Id="R6cea4e59a14348a8" /><Relationship Type="http://schemas.openxmlformats.org/officeDocument/2006/relationships/slideLayout" Target="/ppt/slideLayouts/slideLayout3.xml" Id="Rfddbdcbad61c4dc9" /><Relationship Type="http://schemas.openxmlformats.org/officeDocument/2006/relationships/slideLayout" Target="/ppt/slideLayouts/slideLayout4.xml" Id="R57ebb71a7ad94537" /><Relationship Type="http://schemas.openxmlformats.org/officeDocument/2006/relationships/slideLayout" Target="/ppt/slideLayouts/slideLayout5.xml" Id="R6979b85d290d4f64" /><Relationship Type="http://schemas.openxmlformats.org/officeDocument/2006/relationships/slideLayout" Target="/ppt/slideLayouts/slideLayout6.xml" Id="Rb61b0c6f0a7848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357d4bc324d6c"/>
    <p:sldLayoutId xmlns:r="http://schemas.openxmlformats.org/officeDocument/2006/relationships" id="2147483650" r:id="R6cea4e59a14348a8"/>
    <p:sldLayoutId xmlns:r="http://schemas.openxmlformats.org/officeDocument/2006/relationships" id="2147483651" r:id="Rfddbdcbad61c4dc9"/>
    <p:sldLayoutId xmlns:r="http://schemas.openxmlformats.org/officeDocument/2006/relationships" id="2147483652" r:id="R57ebb71a7ad94537"/>
    <p:sldLayoutId xmlns:r="http://schemas.openxmlformats.org/officeDocument/2006/relationships" id="2147483653" r:id="R6979b85d290d4f64"/>
    <p:sldLayoutId xmlns:r="http://schemas.openxmlformats.org/officeDocument/2006/relationships" id="2147483654" r:id="Rb61b0c6f0a78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7892cf968479c" /><Relationship Type="http://schemas.openxmlformats.org/officeDocument/2006/relationships/notesSlide" Target="/ppt/notesSlides/notesSlide1.xml" Id="R93f02c3e488f4f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a44dc0ff74db6" /><Relationship Type="http://schemas.openxmlformats.org/officeDocument/2006/relationships/notesSlide" Target="/ppt/notesSlides/notesSlide2.xml" Id="R3e4d03758c9140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3d4e3d6fd4fcc" /><Relationship Type="http://schemas.openxmlformats.org/officeDocument/2006/relationships/image" Target="/ppt/media/image.png" Id="R4490ae1cad3e4aa7" /><Relationship Type="http://schemas.openxmlformats.org/officeDocument/2006/relationships/notesSlide" Target="/ppt/notesSlides/notesSlide3.xml" Id="R4d849a015ea5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2981eec054a27" /><Relationship Type="http://schemas.openxmlformats.org/officeDocument/2006/relationships/image" Target="/ppt/media/image2.png" Id="Rd9924e74d9284836" /><Relationship Type="http://schemas.openxmlformats.org/officeDocument/2006/relationships/notesSlide" Target="/ppt/notesSlides/notesSlide4.xml" Id="R555278f5f995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f2bfe41624fa7" /><Relationship Type="http://schemas.openxmlformats.org/officeDocument/2006/relationships/image" Target="/ppt/media/image3.png" Id="Rcfc5062dea494bda" /><Relationship Type="http://schemas.openxmlformats.org/officeDocument/2006/relationships/notesSlide" Target="/ppt/notesSlides/notesSlide5.xml" Id="R77d3a0121fa84d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32830d92c4d88" /><Relationship Type="http://schemas.openxmlformats.org/officeDocument/2006/relationships/notesSlide" Target="/ppt/notesSlides/notesSlide6.xml" Id="R844dea1b328f40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2076e6007415a" /><Relationship Type="http://schemas.openxmlformats.org/officeDocument/2006/relationships/image" Target="/ppt/media/image4.png" Id="R5fad74ebe4d948b4" /><Relationship Type="http://schemas.openxmlformats.org/officeDocument/2006/relationships/notesSlide" Target="/ppt/notesSlides/notesSlide7.xml" Id="R90574ebbfdbd41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AEE5B-0480-4EDD-9D55-F742B14B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The AHTEG allocation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24AD1-60EC-4005-8327-7516F221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plus weighted criteria for allocations to recipient Parties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39788-778A-4957-BDE8-9F0A6F6A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572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147D9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6FE5F-F944-4A3A-B15D-774A6CE1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4B739-6F32-4853-9438-A2F27321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F6FF8-92EB-42B5-BB46-FE120D1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Starting pool divided equally</a:t>
            </a:r>
          </a:p>
          <a:p xmlns:a="http://schemas.openxmlformats.org/drawingml/2006/main"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between recipient Parties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46CFF-F8B2-4842-BA73-95B15DF4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07BB5-72F7-4995-B7B9-CAB5B2D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83343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19050">
            <a:solidFill>
              <a:srgbClr val="D7AE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A8061-808E-44D8-9E40-2F43984E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Weighted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61952-8ACD-4DD2-9EFE-05D5B20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Remaining allocation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B76A4-3C7A-4ED1-9E0F-27344AB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  Biodiversity richness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8FBA6-4328-4632-AA90-F1207681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738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   Geographic origin of genetic resources underlying DSI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02429-2F6E-43B9-9D9F-03590604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9112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C   Capacity needs for conservation and sustainable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A11F8-A8B6-41CF-8323-AD943FB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91200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   Traditional knowledge and IP &amp; LC contributions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4C3A3-51D9-4DF5-A2D5-AF34D36E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Country allocation = Equality Base + w1·CA + w2·CB + w3·CC + w4·CD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A7575-F7C2-463B-B7FB-91FEBE54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91450"/>
            <a:ext cx="1390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The GNI option adjusts the Equality Base for LDCs and SIDS. Criterion B remains a placeholder pending suitable data.</a:t>
            </a:r>
          </a:p>
        </p:txBody>
      </p:sp>
    </p:spTree>
    <p:extLst>
      <p:ext uri="{BB962C8B-B14F-4D97-AF65-F5344CB8AC3E}">
        <p14:creationId xmlns:p14="http://schemas.microsoft.com/office/powerpoint/2010/main" val="997612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AD98C-9623-495B-9948-744A046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FA212-E94A-4E8A-841A-F7947A7C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897BC-4C18-47B2-B6BF-AA80E27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390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9BFC8-6C3D-4727-A47B-C32DFD2C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Neither directly measures biodiversity capacity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29427-4FE5-4CBD-B921-FCBF420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48476-4F1B-4382-8CB6-7D606F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51A12-C49A-4686-AF7B-B41113A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653A7-DE19-4523-AA74-42F94208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F496D-4781-4AF8-B384-1B741A7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90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4083F-615A-43EB-B694-B52DC58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F84E0-A084-4007-9228-21988E93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EAFC8-6276-4395-9FEE-563AE97B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BF1C8-1933-48FA-B18E-0809BC3B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the agreed, GNI-based UN capacity-to-pay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FB567-E5FB-4494-84E2-1B89006A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Continuous scores can retain differences between countries.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3D1F3-F1FA-4DE0-8EC2-D9A1F3B9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C26F5-3579-43C8-896F-D58CDD00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14DDF-DDC4-4FB9-A5A9-C057F3F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set an explicit ratio for the capacity component.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E3B22-3927-416A-805F-E1987523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48626-6E0F-45C4-9730-210C2DEE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81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D364A-E13F-4143-9496-80E0224E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AHTEG identified bias against LDCs/SIDS, prompting a 25% base uplift.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781B0-08C8-4593-9904-AF7814CC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reflects economy size and UN contribution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AF9E9-B61B-46BA-8020-38EB1ABD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1BE1D-CFD4-4B8B-99F6-FBCB85F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05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create steps and equal scores within bands.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A456C-0636-40AC-A0A4-0B95DAA2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99EC4-3158-448A-B674-62969A6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Weights and ratio are a policy choice.</a:t>
            </a:r>
          </a:p>
        </p:txBody>
      </p:sp>
    </p:spTree>
    <p:extLst>
      <p:ext uri="{BB962C8B-B14F-4D97-AF65-F5344CB8AC3E}">
        <p14:creationId xmlns:p14="http://schemas.microsoft.com/office/powerpoint/2010/main" val="1722265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0C9C6-A409-40B3-9C75-D738B8E90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0ae1cad3e4aa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09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55DF8-9298-4891-BAFD-2B177C9B7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24e74d9284836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47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5FB8F-33B5-4F9F-BDDC-579381ED9F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5062dea494bd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63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4A2E4-DDBD-4055-9058-AAE6D29E3CFB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052512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785FC-C294-495C-B978-4C8FDE5AA4B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95287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061E0-2C5C-4D16-9123-B3E3B0A931A0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287125" y="40195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EA0B2-6FF7-4DED-A585-C57275FC687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287125" y="25812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8899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8310F-2E3C-4B2F-8F7F-9F5570AD9AE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10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F27C2-E42E-4CA4-A45C-86E9C60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possible Cali Fund allocation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A9FDB-F6DC-46DE-93F9-81DEECFD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and economic capacity, combined with biodiversity stewardship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9C582-4BCC-46E2-8025-9E8E4A5F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AND ECONOMIC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984BC-645C-44A4-939C-B24C43D2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147D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CF471-744A-4F4F-9B0B-AB63B88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  +  Criterion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94ADE-0D03-465A-882D-90B05CBB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Equal share between Parties + economic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00BA6-1838-47DB-8F5A-FECD7B9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94230-7A14-409F-8A3C-25C27627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IUSAF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DDC62-4B4C-44D6-9372-C4901C5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Inverted UN Scale of Assessments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DE484-B29A-488D-9E1C-860A569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523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9050">
            <a:solidFill>
              <a:srgbClr val="83919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332D3-99C8-4BDC-ADC1-6ECAB556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IPBES Rapid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C1188-0FFB-4EAE-91A0-0C273811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19050">
            <a:solidFill>
              <a:srgbClr val="A779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BC83E-8D4F-44BB-A893-90FF789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242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A: Species   B: DSI   D: Traditional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12830-C815-46F9-A3DE-8ADEDE9D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6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83786-39D6-4FCD-A73F-DDEB813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910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Biodiversity Stewardship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7B995-0D0C-41FF-BF5D-4AF4C1F5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625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Combines criteria A, B and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C4FFE-165C-47C3-8DF0-C5F2287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62525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2E038-6C18-49E3-8251-D0450033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753225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F1448-6FAB-427A-BF59-232ABE17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8865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Combined allocation</a:t>
            </a:r>
          </a:p>
        </p:txBody>
      </p:sp>
    </p:spTree>
    <p:extLst>
      <p:ext uri="{BB962C8B-B14F-4D97-AF65-F5344CB8AC3E}">
        <p14:creationId xmlns:p14="http://schemas.microsoft.com/office/powerpoint/2010/main" val="713220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4CE0E-6B39-4236-880C-1C593B3AE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d74ebe4d948b4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10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2026-10-13T11:30:22.2060000Z</dcterms:created>
  <dcterms:modified xsi:type="dcterms:W3CDTF">2026-10-13T11:30:22.2060000Z</dcterms:modified>
</coreProperties>
</file>