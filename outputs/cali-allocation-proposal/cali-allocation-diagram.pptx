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01a823aa4c4ea8" /><Relationship Type="http://schemas.openxmlformats.org/officeDocument/2006/relationships/extended-properties" Target="/docProps/app.xml" Id="R960dd494f9ec4229" /><Relationship Type="http://schemas.openxmlformats.org/officeDocument/2006/relationships/officeDocument" Target="/ppt/presentation.xml" Id="Rc4edc141db5a41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a6b78d5a694e5a"/>
  </p:sldMasterIdLst>
  <p:notesMasterIdLst>
    <p:notesMasterId xmlns:r="http://schemas.openxmlformats.org/officeDocument/2006/relationships" r:id="R0b1e1351625e4ced"/>
  </p:notesMasterIdLst>
  <p:sldIdLst>
    <p:sldId xmlns:r="http://schemas.openxmlformats.org/officeDocument/2006/relationships" id="256" r:id="R1ca03774337b4612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aa1c6a14c344ab" /><Relationship Type="http://schemas.openxmlformats.org/officeDocument/2006/relationships/slideMaster" Target="/ppt/slideMasters/slideMaster1.xml" Id="Rf4a6b78d5a694e5a" /><Relationship Type="http://schemas.openxmlformats.org/officeDocument/2006/relationships/notesMaster" Target="/ppt/notesMasters/notesMaster1.xml" Id="R0b1e1351625e4ced" /><Relationship Type="http://schemas.openxmlformats.org/officeDocument/2006/relationships/presProps" Target="/ppt/presProps.xml" Id="R47f29472899e4eee" /><Relationship Type="http://schemas.openxmlformats.org/officeDocument/2006/relationships/tableStyles" Target="/ppt/tableStyles.xml" Id="Rc15d39b9cf794f4f" /><Relationship Type="http://schemas.openxmlformats.org/officeDocument/2006/relationships/slide" Target="/ppt/slides/slide1.xml" Id="R1ca03774337b46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cdfc0ee8394e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7611ab76ed47ea" /><Relationship Type="http://schemas.openxmlformats.org/officeDocument/2006/relationships/notesMaster" Target="/ppt/notesMasters/notesMaster1.xml" Id="R34eb07ebc46947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cali-allocation-blocks.pptx, slide 2, and subsequent user clarifications. This is a possible solution, not an assertion of an adopted AHTEG allocation formula. Equality Base is distinct from criterion B (DSI). The user requested teal for Equality Base plus criterion C through IUSAF, gold for Biodiversity Stewardship Index criteria A, B and D, and a grey IPBES Rapid Assessment process block feeding the index. No component weights, 50:50 split, country scores or disbursement mechanism are implied. DSI = digital sequence information.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5fc24775c7401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164e2893a54d3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dc5bf5cb9c4a9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c8202a9e60463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cf127b500841d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b9d046646048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B12F9C7-DE36-4920-A2F6-EBA350025B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D2328DD-F1DF-4A04-B2C8-309AB202ADA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8CDEA70-268A-4D57-9919-570E49B9A0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297131-4420-4F12-831A-2A54E0DFF3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817F00B-6225-4A51-B6E8-6D00321B5B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CF477AF-3640-4B74-AEEB-A62733EC34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FFE7573-0EB4-42D5-B899-BBBC26C508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18A8061-CD5B-4C3B-86DF-94A00717993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0D143B-5C8D-4496-80BB-4F5605FA4B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7109F68-6705-481C-BDFE-F8677A8247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c7c2982e664ea8" /><Relationship Type="http://schemas.openxmlformats.org/officeDocument/2006/relationships/slideLayout" Target="/ppt/slideLayouts/slideLayout1.xml" Id="Rbdb063de05bf441e" /><Relationship Type="http://schemas.openxmlformats.org/officeDocument/2006/relationships/slideLayout" Target="/ppt/slideLayouts/slideLayout2.xml" Id="Rd6a16d68f28c4806" /><Relationship Type="http://schemas.openxmlformats.org/officeDocument/2006/relationships/slideLayout" Target="/ppt/slideLayouts/slideLayout3.xml" Id="R299754a5f9564ac9" /><Relationship Type="http://schemas.openxmlformats.org/officeDocument/2006/relationships/slideLayout" Target="/ppt/slideLayouts/slideLayout4.xml" Id="R99cf710d4b2a4298" /><Relationship Type="http://schemas.openxmlformats.org/officeDocument/2006/relationships/slideLayout" Target="/ppt/slideLayouts/slideLayout5.xml" Id="Rda564e4fec354dea" /><Relationship Type="http://schemas.openxmlformats.org/officeDocument/2006/relationships/slideLayout" Target="/ppt/slideLayouts/slideLayout6.xml" Id="Rc6c49233415c4d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b063de05bf441e"/>
    <p:sldLayoutId xmlns:r="http://schemas.openxmlformats.org/officeDocument/2006/relationships" id="2147483650" r:id="Rd6a16d68f28c4806"/>
    <p:sldLayoutId xmlns:r="http://schemas.openxmlformats.org/officeDocument/2006/relationships" id="2147483651" r:id="R299754a5f9564ac9"/>
    <p:sldLayoutId xmlns:r="http://schemas.openxmlformats.org/officeDocument/2006/relationships" id="2147483652" r:id="R99cf710d4b2a4298"/>
    <p:sldLayoutId xmlns:r="http://schemas.openxmlformats.org/officeDocument/2006/relationships" id="2147483653" r:id="Rda564e4fec354dea"/>
    <p:sldLayoutId xmlns:r="http://schemas.openxmlformats.org/officeDocument/2006/relationships" id="2147483654" r:id="Rc6c49233415c4d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8fa7bbaabd4c2b" /><Relationship Type="http://schemas.openxmlformats.org/officeDocument/2006/relationships/notesSlide" Target="/ppt/notesSlides/notesSlide1.xml" Id="Rba10fb5d52ca4d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B4C2AD-EABA-4922-B08D-66171529C960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21" idx="3"/>
          </p:cNvCxnSpPr>
          <p:nvPr/>
        </p:nvCxnSpPr>
        <p:spPr>
          <a:xfrm xmlns:a="http://schemas.openxmlformats.org/drawingml/2006/main" flipH="1">
            <a:off x="10525125" y="5867400"/>
            <a:ext cx="762000" cy="1238250"/>
          </a:xfrm>
          <a:prstGeom xmlns:a="http://schemas.openxmlformats.org/drawingml/2006/main" prst="bentConnector5">
            <a:avLst>
              <a:gd name="adj1" fmla="val 0"/>
              <a:gd name="adj2" fmla="val 18462"/>
              <a:gd name="adj3" fmla="val 70000"/>
            </a:avLst>
          </a:prstGeom>
          <a:ln xmlns:a="http://schemas.openxmlformats.org/drawingml/2006/main" w="28575">
            <a:solidFill>
              <a:srgbClr val="A77923"/>
            </a:solidFill>
            <a:tailEnd type="triangle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17E49F-2CE3-4462-AED8-893BAE998D31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3952875" y="5867400"/>
            <a:ext cx="762000" cy="1238250"/>
          </a:xfrm>
          <a:prstGeom xmlns:a="http://schemas.openxmlformats.org/drawingml/2006/main" prst="bentConnector5">
            <a:avLst>
              <a:gd name="adj1" fmla="val 0"/>
              <a:gd name="adj2" fmla="val 18462"/>
              <a:gd name="adj3" fmla="val 70000"/>
            </a:avLst>
          </a:prstGeom>
          <a:ln xmlns:a="http://schemas.openxmlformats.org/drawingml/2006/main" w="28575">
            <a:solidFill>
              <a:srgbClr val="147D92"/>
            </a:solidFill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248AE5-6B70-4F40-A3F0-9A0E99CF498E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11287125" y="4019550"/>
            <a:ext cx="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77923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3501E2-E208-4AF7-AF6A-EDBAD66D73D9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11287125" y="2581275"/>
            <a:ext cx="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88994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DFE181-BD1B-4FA1-8C3B-D01E3E2AF817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952875" y="38100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47D92"/>
            </a:solidFill>
            <a:tailEnd type="triangl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D48054-B1D3-44E8-B829-79831569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675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A possible Cali Fund allocation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A8F51-81AF-4466-B263-0B0D5A80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14425"/>
            <a:ext cx="1390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rPr>
              <a:t>Equality Base and economic capacity, combined with biodiversity stewardship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D7308A-8307-4C92-ACA4-9B78C7C9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4310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EQUALITY AND ECONOMIC CAPACITY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2C60E-123A-4F18-ADD4-5FC20AFF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67000"/>
            <a:ext cx="628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5"/>
          </a:solidFill>
          <a:ln xmlns:a="http://schemas.openxmlformats.org/drawingml/2006/main" w="19050">
            <a:solidFill>
              <a:srgbClr val="147D9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06E08-CA37-468E-ADFA-18EE154D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581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47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Equality Base  +  Criterion 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56B31D-97C3-4C80-A054-198073E5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Equal share between Parties + economic capacity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AB93C3-66A7-4751-B420-BCA67DD9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67250"/>
            <a:ext cx="6286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FB68AF-3771-494E-B796-50886B25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0125"/>
            <a:ext cx="581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IUSAF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0BDBEA-AA6F-4547-AF1A-5BA20FAB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Inverted UN Scale of Assessments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FCFFA1-9ED0-4CAE-A710-9DDEE714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57375"/>
            <a:ext cx="523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19050">
            <a:solidFill>
              <a:srgbClr val="83919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4EC2FF-4020-4B1C-9AC8-4962923A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2882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IPBES Rapid Assessment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025CFD-3997-41E0-A7CB-D6AAF939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143250"/>
            <a:ext cx="628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6"/>
          </a:solidFill>
          <a:ln xmlns:a="http://schemas.openxmlformats.org/drawingml/2006/main" w="19050">
            <a:solidFill>
              <a:srgbClr val="A7792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548AF8-AB5E-4F45-AFFD-E3198674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24225"/>
            <a:ext cx="590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rPr>
              <a:t>A: Species   B: DSI   D: Traditional knowledge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F14DB0-1DE4-445B-B898-9712AF79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667250"/>
            <a:ext cx="6286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E6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01962A-1399-437F-A040-9E943EBE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91075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Biodiversity Stewardship Index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87F8D2-EF0E-4C1A-8BEA-29E0113D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62575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Combines criteria A, B and 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FC7986-0620-40F3-9699-D583A4C6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62525"/>
            <a:ext cx="80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9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39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729140-FD73-447A-B4D1-9A581955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6753225"/>
            <a:ext cx="581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5263EC-261E-4DB7-8A99-4EC05ED3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886575"/>
            <a:ext cx="542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Combined allocation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9D2684-8780-49C9-8E54-D3B1D33A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43850"/>
            <a:ext cx="1390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rPr>
              <a:t>Conceptual proposal. Component weights and combination rule remain to be specified. Block sizes do not represent funding shares.</a:t>
            </a:r>
          </a:p>
        </p:txBody>
      </p:sp>
    </p:spTree>
    <p:extLst>
      <p:ext uri="{BB962C8B-B14F-4D97-AF65-F5344CB8AC3E}">
        <p14:creationId xmlns:p14="http://schemas.microsoft.com/office/powerpoint/2010/main" val="16549372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2026-10-12T17:50:28.9110000Z</dcterms:created>
  <dcterms:modified xsi:type="dcterms:W3CDTF">2026-10-12T17:50:28.9110000Z</dcterms:modified>
</coreProperties>
</file>