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8fdd43de34200" /><Relationship Type="http://schemas.openxmlformats.org/officeDocument/2006/relationships/extended-properties" Target="/docProps/app.xml" Id="R7850b18caffe420f" /><Relationship Type="http://schemas.openxmlformats.org/officeDocument/2006/relationships/officeDocument" Target="/ppt/presentation.xml" Id="Rc4b01b9f03a343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09c0b127804d2b"/>
  </p:sldMasterIdLst>
  <p:notesMasterIdLst>
    <p:notesMasterId xmlns:r="http://schemas.openxmlformats.org/officeDocument/2006/relationships" r:id="R1c532cb3754142fc"/>
  </p:notesMasterIdLst>
  <p:sldIdLst>
    <p:sldId xmlns:r="http://schemas.openxmlformats.org/officeDocument/2006/relationships" id="256" r:id="R7dd7ff43b1634df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b6bc2501ef4d2f" /><Relationship Type="http://schemas.openxmlformats.org/officeDocument/2006/relationships/slideMaster" Target="/ppt/slideMasters/slideMaster1.xml" Id="R9309c0b127804d2b" /><Relationship Type="http://schemas.openxmlformats.org/officeDocument/2006/relationships/notesMaster" Target="/ppt/notesMasters/notesMaster1.xml" Id="R1c532cb3754142fc" /><Relationship Type="http://schemas.openxmlformats.org/officeDocument/2006/relationships/presProps" Target="/ppt/presProps.xml" Id="R24901c0505df410e" /><Relationship Type="http://schemas.openxmlformats.org/officeDocument/2006/relationships/tableStyles" Target="/ppt/tableStyles.xml" Id="R1343387d4c134a90" /><Relationship Type="http://schemas.openxmlformats.org/officeDocument/2006/relationships/slide" Target="/ppt/slides/slide1.xml" Id="R7dd7ff43b1634d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2c89fd844f4d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902ea206f048f8" /><Relationship Type="http://schemas.openxmlformats.org/officeDocument/2006/relationships/notesMaster" Target="/ppt/notesMasters/notesMaster1.xml" Id="R79d82977547c44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 (12 October 2026):</a:t>
            </a:r>
          </a:p>
          <a:p xmlns:a="http://schemas.openxmlformats.org/drawingml/2006/main">
            <a:r>
              <a:t>UN Committee on Contributions, scale of assessments 2025–2027: https://www.un.org/en/ga/contributions/budget.shtml and https://www.un.org/ldcportal/node/933 . GNI is the starting point, with debt-burden and low-per-capita-income adjustments, minimum assessment and ceilings. The UN agreement concerns contributions, not adoption of IUSAF for Cali allocations.</a:t>
            </a:r>
          </a:p>
          <a:p xmlns:a="http://schemas.openxmlformats.org/drawingml/2006/main">
            <a:r>
              <a:t>World Bank, GNI per capita methodology and limitations: https://datahelpdesk.worldbank.org/knowledgebase/articles/378831-why-use-gni-per-capita-to-classify-economies-into and https://datahelpdesk.worldbank.org/knowledgebase/articles/378832-what-is-the-world-bank-atlas-method . GNI per capita does not describe within-country inequality. Atlas conversion smooths but does not eliminate exchange-rate effects. Data availability and reference-year choices require checking under either approach.</a:t>
            </a:r>
          </a:p>
          <a:p xmlns:a="http://schemas.openxmlformats.org/drawingml/2006/main">
            <a:r>
              <a:t>IUSAF banding and 3.75:1 ratio: user's paper and modelling files previously inspected in this task, https://papers.ssrn.com/sol3/papers.cfm?abstract_id=6809586 . IUSAF here means the banded version, not raw reciprocal UN assessments.</a:t>
            </a:r>
          </a:p>
          <a:p xmlns:a="http://schemas.openxmlformats.org/drawingml/2006/main">
            <a:r>
              <a:t>Analytical deductions: with equal treatment of Parties and normalized reciprocal weighting, inverse total GNI favours smaller economies whereas inverse per-capita GNI favours lower income per person. Raw reciprocal sensitivity and concentration depend on data spread. Continuous differentiation applies before introducing bands. Band thresholds and within-band equality are consequences of the banded model.</a:t>
            </a:r>
          </a:p>
          <a:p xmlns:a="http://schemas.openxmlformats.org/drawingml/2006/main">
            <a:r>
              <a:t>Fair comparison: distinguish the capacity indicator from the transformation. Either GNI or UN assessments can be banded, smoothed or given a chosen ratio range. Neither input directly measures biodiversity stewardship. Both require explicit treatment of missing data, allocation normalization, and integration with the Equality Base and other criteria. AHTEG report CBD/DSI/AHTEG/2026/2/3, Annex II paragraphs 4(c) and 5 (pages 10–11): https://www.cbd.int/doc/c/db87/84a9/9022dd04f7afc8880d009149/dsi-ahteg-2026-02-03-en.pdf . The report specifies per-capita GNI. The 25% uplift is relative to the base allocation, not 25 percentage points of the fund. Paragraph 28 discusses the weak biodiversity-specific connection of these proxies. Exact inversion and normalisation should be checked in the implementation before quantitative comparisons. No numerical ranking or claim of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41851bb6449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0776bb6724e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94dd8e4a146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0f4ae8d274c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8a695db0847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eaece710049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A35E3F-02DE-4F1E-B23D-E33136E797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7A7CA5-F20F-4DDD-B317-55E55EB291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D99EB4-DBE4-404C-9BDA-54746D54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797977-1D7C-407B-91E6-480B757A1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69358F-E6E1-4269-A04F-77E8C653EB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A78614-7C79-48C0-8AF0-A0073A3E67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74E232-C510-4EF1-8DBE-AB9DA8397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0744C9-19A2-4CDF-82E7-FFE58724ED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C170B4-8FFD-473B-80A3-B72909398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21B74C-B086-4C19-8640-18FD2C965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2b07f7d92445c2" /><Relationship Type="http://schemas.openxmlformats.org/officeDocument/2006/relationships/slideLayout" Target="/ppt/slideLayouts/slideLayout1.xml" Id="Rf02bf45e53434f6f" /><Relationship Type="http://schemas.openxmlformats.org/officeDocument/2006/relationships/slideLayout" Target="/ppt/slideLayouts/slideLayout2.xml" Id="R3c6213068dc64794" /><Relationship Type="http://schemas.openxmlformats.org/officeDocument/2006/relationships/slideLayout" Target="/ppt/slideLayouts/slideLayout3.xml" Id="R22d83c2cfe214240" /><Relationship Type="http://schemas.openxmlformats.org/officeDocument/2006/relationships/slideLayout" Target="/ppt/slideLayouts/slideLayout4.xml" Id="R54a608a1b45949e8" /><Relationship Type="http://schemas.openxmlformats.org/officeDocument/2006/relationships/slideLayout" Target="/ppt/slideLayouts/slideLayout5.xml" Id="R1645145b82fe4c8f" /><Relationship Type="http://schemas.openxmlformats.org/officeDocument/2006/relationships/slideLayout" Target="/ppt/slideLayouts/slideLayout6.xml" Id="R0f043bd271d1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2bf45e53434f6f"/>
    <p:sldLayoutId xmlns:r="http://schemas.openxmlformats.org/officeDocument/2006/relationships" id="2147483650" r:id="R3c6213068dc64794"/>
    <p:sldLayoutId xmlns:r="http://schemas.openxmlformats.org/officeDocument/2006/relationships" id="2147483651" r:id="R22d83c2cfe214240"/>
    <p:sldLayoutId xmlns:r="http://schemas.openxmlformats.org/officeDocument/2006/relationships" id="2147483652" r:id="R54a608a1b45949e8"/>
    <p:sldLayoutId xmlns:r="http://schemas.openxmlformats.org/officeDocument/2006/relationships" id="2147483653" r:id="R1645145b82fe4c8f"/>
    <p:sldLayoutId xmlns:r="http://schemas.openxmlformats.org/officeDocument/2006/relationships" id="2147483654" r:id="R0f043bd271d1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378c57b684e0a" /><Relationship Type="http://schemas.openxmlformats.org/officeDocument/2006/relationships/notesSlide" Target="/ppt/notesSlides/notesSlide1.xml" Id="R57a2cfafba3c46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19A17E-41BC-404F-8534-D43BD21D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8EA28-65F7-4E96-AEC5-DFF5549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AB35F-F379-49C0-AA8D-CE3E911F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390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41ECD-E77C-478C-B46C-F6F1C1CB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Neither directly measures biodiversity capacity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5026F-B62B-4F41-9E95-2D731EC4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73FE4-6964-4D72-9B68-E39E31ED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48E7D-852C-42E2-99B6-B2896AC5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0EF14-C0B6-4BCA-B990-A3224A63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E66DC-1581-4338-A00E-B9A93983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90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05BDF-4D3A-4D40-98F5-41354CFD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301E5-053E-46A6-800F-67900B66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CE208-1AE5-4CA1-992B-142C9CAF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6B6B0-187D-4AC9-8077-D59F05B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the agreed, GNI-based UN capacity-to-pay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B0B33-C28B-4662-B108-C7530572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Continuous scores can retain differences between countries.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719B8-2E05-431F-B2EF-D2F54C4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7D8EA-CF03-4CC0-B64D-E87E6BB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AEC96-D9CF-4966-B51C-3EED3CF1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set an explicit ratio for the capacity component.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70DB6-D2A1-4A69-B3C1-96C19257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8961A-3047-4FF4-936E-128589DA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81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3D3D1-1571-45AF-BE49-61049F2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AHTEG adds an LDC/SIDS correction to the Equality Base.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2C842-02B9-44AC-8EAB-1C521238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still reflects economy size and UN contribution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D0EC3-1D7A-4B8B-BF29-E44083D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60C13-B2F5-44E1-8246-ACC0DF33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05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 cut-offs create jumps and equal scores within bands.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0D066-9CEF-4FD5-BEE4-3F92589E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614E8-2F21-4E3F-8963-96695F8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Weights and the 3.75:1 ratio need policy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352673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2026-10-12T18:04:04.8440000Z</dcterms:created>
  <dcterms:modified xsi:type="dcterms:W3CDTF">2026-10-12T18:04:04.8440000Z</dcterms:modified>
</coreProperties>
</file>