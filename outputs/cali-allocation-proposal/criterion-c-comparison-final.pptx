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fd65d6ca9149d6" /><Relationship Type="http://schemas.openxmlformats.org/officeDocument/2006/relationships/extended-properties" Target="/docProps/app.xml" Id="Rf3a8d8fa699244a1" /><Relationship Type="http://schemas.openxmlformats.org/officeDocument/2006/relationships/officeDocument" Target="/ppt/presentation.xml" Id="R3d6261f7996241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208082883b45db"/>
  </p:sldMasterIdLst>
  <p:notesMasterIdLst>
    <p:notesMasterId xmlns:r="http://schemas.openxmlformats.org/officeDocument/2006/relationships" r:id="Rf995982e9c944009"/>
  </p:notesMasterIdLst>
  <p:sldIdLst>
    <p:sldId xmlns:r="http://schemas.openxmlformats.org/officeDocument/2006/relationships" id="256" r:id="R564613e673ec494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a2d136e4044e3d" /><Relationship Type="http://schemas.openxmlformats.org/officeDocument/2006/relationships/slideMaster" Target="/ppt/slideMasters/slideMaster1.xml" Id="R77208082883b45db" /><Relationship Type="http://schemas.openxmlformats.org/officeDocument/2006/relationships/notesMaster" Target="/ppt/notesMasters/notesMaster1.xml" Id="Rf995982e9c944009" /><Relationship Type="http://schemas.openxmlformats.org/officeDocument/2006/relationships/presProps" Target="/ppt/presProps.xml" Id="Rbb0a808c3df444cf" /><Relationship Type="http://schemas.openxmlformats.org/officeDocument/2006/relationships/tableStyles" Target="/ppt/tableStyles.xml" Id="R4eaac4a3ad8f4c10" /><Relationship Type="http://schemas.openxmlformats.org/officeDocument/2006/relationships/slide" Target="/ppt/slides/slide1.xml" Id="R564613e673ec49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23c9e01839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12039c796a42b9" /><Relationship Type="http://schemas.openxmlformats.org/officeDocument/2006/relationships/notesMaster" Target="/ppt/notesMasters/notesMaster1.xml" Id="R71854a9196a9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 (12 October 2026):</a:t>
            </a:r>
          </a:p>
          <a:p xmlns:a="http://schemas.openxmlformats.org/drawingml/2006/main">
            <a:r>
              <a:t>UN Committee on Contributions, scale of assessments 2025–2027: https://www.un.org/en/ga/contributions/budget.shtml and https://www.un.org/ldcportal/node/933 . GNI is the starting point, with debt-burden and low-per-capita-income adjustments, minimum assessment and ceilings. The UN agreement concerns contributions, not adoption of IUSAF for Cali allocations.</a:t>
            </a:r>
          </a:p>
          <a:p xmlns:a="http://schemas.openxmlformats.org/drawingml/2006/main">
            <a:r>
              <a:t>World Bank, GNI per capita methodology and limitations: https://datahelpdesk.worldbank.org/knowledgebase/articles/378831-why-use-gni-per-capita-to-classify-economies-into and https://datahelpdesk.worldbank.org/knowledgebase/articles/378832-what-is-the-world-bank-atlas-method . GNI per capita does not describe within-country inequality. Atlas conversion smooths but does not eliminate exchange-rate effects. Data availability and reference-year choices require checking under either approach.</a:t>
            </a:r>
          </a:p>
          <a:p xmlns:a="http://schemas.openxmlformats.org/drawingml/2006/main">
            <a:r>
              <a:t>IUSAF banding and 3.75:1 ratio: user's paper and modelling files previously inspected in this task, https://papers.ssrn.com/sol3/papers.cfm?abstract_id=6809586 . IUSAF here means the banded version, not raw reciprocal UN assessments.</a:t>
            </a:r>
          </a:p>
          <a:p xmlns:a="http://schemas.openxmlformats.org/drawingml/2006/main">
            <a:r>
              <a:t>Analytical deductions: with equal treatment of Parties and normalized reciprocal weighting, inverse total GNI favours smaller economies whereas inverse per-capita GNI favours lower income per person. Raw reciprocal sensitivity and concentration depend on data spread. Continuous differentiation applies before introducing bands. Band thresholds and within-band equality are consequences of the banded model.</a:t>
            </a:r>
          </a:p>
          <a:p xmlns:a="http://schemas.openxmlformats.org/drawingml/2006/main">
            <a:r>
              <a:t>Fair comparison: distinguish the capacity indicator from the transformation. Either GNI or UN assessments can be banded, smoothed or given a chosen ratio range. Neither input directly measures biodiversity stewardship. Both require explicit treatment of missing data, allocation normalization, and integration with the Equality Base and other criteria. AHTEG report CBD/DSI/AHTEG/2026/2/3, Annex II paragraphs 4(c) and 5 (pages 10–11): https://www.cbd.int/doc/c/db87/84a9/9022dd04f7afc8880d009149/dsi-ahteg-2026-02-03-en.pdf . The report specifies per-capita GNI. The 25% uplift is relative to the base allocation, not 25 percentage points of the fund. Paragraph 28 discusses the weak biodiversity-specific connection of these proxies. Exact inversion and normalisation should be checked in the implementation before quantitative comparisons. No numerical ranking or claim of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f419ca83a4d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ebcf7e52a41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ff105a9f948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59d2dbd8e42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b111747f041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6382f6b3745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670410-2633-4C73-8344-21EE52DF3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5D0CE0-B9E6-4D8D-8D6B-781FE82C5B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9F78A1-ADBE-45C1-A1CF-E564CB973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0C3082-A585-41F2-B8C1-0F3CBB754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6495CC-D3F0-4E0C-940C-8BFF6A972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3ABD5C-6308-4575-95B8-7E7A1B4D7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5E5681-9DDD-4217-97BD-FA6E549F4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99B726-2853-4E04-AE76-8FFE5C64AD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BB8026-1F20-4417-A7F8-B61772600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8303E3-D827-4993-B5A8-C5DE5AC47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28e95a18ce4afb" /><Relationship Type="http://schemas.openxmlformats.org/officeDocument/2006/relationships/slideLayout" Target="/ppt/slideLayouts/slideLayout1.xml" Id="Rcf733f2eaa4f47bc" /><Relationship Type="http://schemas.openxmlformats.org/officeDocument/2006/relationships/slideLayout" Target="/ppt/slideLayouts/slideLayout2.xml" Id="R8fa63c88e83e446f" /><Relationship Type="http://schemas.openxmlformats.org/officeDocument/2006/relationships/slideLayout" Target="/ppt/slideLayouts/slideLayout3.xml" Id="R4463a644c5bc4d76" /><Relationship Type="http://schemas.openxmlformats.org/officeDocument/2006/relationships/slideLayout" Target="/ppt/slideLayouts/slideLayout4.xml" Id="Re8cf3d0848c24f06" /><Relationship Type="http://schemas.openxmlformats.org/officeDocument/2006/relationships/slideLayout" Target="/ppt/slideLayouts/slideLayout5.xml" Id="Re120fd776a43402a" /><Relationship Type="http://schemas.openxmlformats.org/officeDocument/2006/relationships/slideLayout" Target="/ppt/slideLayouts/slideLayout6.xml" Id="R83cb4d7c73554e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733f2eaa4f47bc"/>
    <p:sldLayoutId xmlns:r="http://schemas.openxmlformats.org/officeDocument/2006/relationships" id="2147483650" r:id="R8fa63c88e83e446f"/>
    <p:sldLayoutId xmlns:r="http://schemas.openxmlformats.org/officeDocument/2006/relationships" id="2147483651" r:id="R4463a644c5bc4d76"/>
    <p:sldLayoutId xmlns:r="http://schemas.openxmlformats.org/officeDocument/2006/relationships" id="2147483652" r:id="Re8cf3d0848c24f06"/>
    <p:sldLayoutId xmlns:r="http://schemas.openxmlformats.org/officeDocument/2006/relationships" id="2147483653" r:id="Re120fd776a43402a"/>
    <p:sldLayoutId xmlns:r="http://schemas.openxmlformats.org/officeDocument/2006/relationships" id="2147483654" r:id="R83cb4d7c73554e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f05abba2148d2" /><Relationship Type="http://schemas.openxmlformats.org/officeDocument/2006/relationships/notesSlide" Target="/ppt/notesSlides/notesSlide1.xml" Id="R43c9f2452c6542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7C975-435A-4A83-9B30-C88285A2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Criterion C: inverted GNI per capita or IUSAF?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D9155-3939-491E-B0E5-B7F0BF74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Strengths and trade-offs of the two options in the AHTEG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B4CAD-D53A-4A5C-8605-117A705E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390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CF5BA-09E1-43FD-98BE-8CC92FC3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352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Both are economic proxies. Neither directly measures biodiversity capacity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1BD20-D557-42E4-BC1A-732511E3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Inverted GNI per capita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AAED3-22D2-41B7-A9F4-D8222E7A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1: Equality Base uplift of 25% for LDCs and SIDS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76FD4-D381-4A65-9EE0-D7F2F20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IUSAF (banded UN scale)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809E4-BBB3-4968-91E2-96A17348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2: equal Equality Base, plus six capacity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F5BD8-2042-4FAD-A7BE-5D258052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90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D4925-15AA-4214-8E6D-B729278F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B1A7F-8A75-4A18-B84D-69067281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9327B-57CB-4D34-8316-30401466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Direct link to average income per person.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9C3F4-EB5B-4D0A-A30A-2C94BC53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Uses an agreed UN capacity-to-pay reference, based on GNI.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98545-A9DD-48A9-86EE-A213FDF0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Continuous scores can retain differences between countries.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6D722-6DF7-4E6A-9D37-EB496B72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767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Incorporates debt and low per capita income adjustments.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D3A90-A03B-4692-9E8D-9EBCE723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Avoids directly penalising countries for a larger population.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13ADF-F4E1-44F1-AE0B-7C364CA9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Banded weights make allocation ratios explicit policy choices.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409A5-71EC-490C-AF1B-77FD1BA2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33984-C4F4-4659-92F0-5CF0B10C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81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1A15E-B05F-40D4-A3C5-AE8ED5D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Needs an explicit LDC/SIDS correction to the Equality Base.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AE34B-CCB6-45B4-83AE-BE7F1E08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Input still reflects economy size and UN contribution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0A7DD-CD66-4177-A41D-088026D5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Results depend on inversion, normalisation and data choices.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FB81C-A1C3-4012-A7FA-C26F266A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05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 thresholds create jumps and equal allocations within bands.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83683-55F1-47C5-AED9-5BCF5F9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GNI alone omits debt burdens and within-country inequality.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EEC64-29B3-46D2-8369-7BE6D22D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 weights and the 3.75:1 baseline require policy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239376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2026-10-12T18:03:42.6710000Z</dcterms:created>
  <dcterms:modified xsi:type="dcterms:W3CDTF">2026-10-12T18:03:42.6710000Z</dcterms:modified>
</coreProperties>
</file>