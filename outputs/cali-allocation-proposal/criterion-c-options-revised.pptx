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d71df49d34da0" /><Relationship Type="http://schemas.openxmlformats.org/officeDocument/2006/relationships/extended-properties" Target="/docProps/app.xml" Id="R1a6ab664154b4f4f" /><Relationship Type="http://schemas.openxmlformats.org/officeDocument/2006/relationships/officeDocument" Target="/ppt/presentation.xml" Id="R6769641b704e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157624aad4626"/>
  </p:sldMasterIdLst>
  <p:notesMasterIdLst>
    <p:notesMasterId xmlns:r="http://schemas.openxmlformats.org/officeDocument/2006/relationships" r:id="R3607c6e60a1a4edd"/>
  </p:notesMasterIdLst>
  <p:sldIdLst>
    <p:sldId xmlns:r="http://schemas.openxmlformats.org/officeDocument/2006/relationships" id="256" r:id="R38ac274102e14a1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656b2f545d4eb4" /><Relationship Type="http://schemas.openxmlformats.org/officeDocument/2006/relationships/slideMaster" Target="/ppt/slideMasters/slideMaster1.xml" Id="Rbb3157624aad4626" /><Relationship Type="http://schemas.openxmlformats.org/officeDocument/2006/relationships/notesMaster" Target="/ppt/notesMasters/notesMaster1.xml" Id="R3607c6e60a1a4edd" /><Relationship Type="http://schemas.openxmlformats.org/officeDocument/2006/relationships/presProps" Target="/ppt/presProps.xml" Id="R280ae7d68e904bb3" /><Relationship Type="http://schemas.openxmlformats.org/officeDocument/2006/relationships/tableStyles" Target="/ppt/tableStyles.xml" Id="R0426b349b36c41d3" /><Relationship Type="http://schemas.openxmlformats.org/officeDocument/2006/relationships/slide" Target="/ppt/slides/slide1.xml" Id="R38ac274102e1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0a8be6d4ca40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fc3b1d2dd4b5b" /><Relationship Type="http://schemas.openxmlformats.org/officeDocument/2006/relationships/notesMaster" Target="/ppt/notesMasters/notesMaster1.xml" Id="R3bdbc6a8198b4b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 (12 October 2026):</a:t>
            </a:r>
          </a:p>
          <a:p xmlns:a="http://schemas.openxmlformats.org/drawingml/2006/main">
            <a:r>
              <a:t>UN Committee on Contributions, scale of assessments 2025–2027: https://www.un.org/en/ga/contributions/budget.shtml and https://www.un.org/ldcportal/node/933 . GNI is the starting point, with debt-burden and low-per-capita-income adjustments, minimum assessment and ceilings. The UN agreement concerns contributions, not adoption of IUSAF for Cali allocations.</a:t>
            </a:r>
          </a:p>
          <a:p xmlns:a="http://schemas.openxmlformats.org/drawingml/2006/main">
            <a:r>
              <a:t>World Bank, GNI per capita methodology and limitations: https://datahelpdesk.worldbank.org/knowledgebase/articles/378831-why-use-gni-per-capita-to-classify-economies-into and https://datahelpdesk.worldbank.org/knowledgebase/articles/378832-what-is-the-world-bank-atlas-method . GNI per capita does not describe within-country inequality. Atlas conversion smooths but does not eliminate exchange-rate effects. Data availability and reference-year choices require checking under either approach.</a:t>
            </a:r>
          </a:p>
          <a:p xmlns:a="http://schemas.openxmlformats.org/drawingml/2006/main">
            <a:r>
              <a:t>IUSAF banding and 3.75:1 ratio: user's paper and modelling files previously inspected in this task, https://papers.ssrn.com/sol3/papers.cfm?abstract_id=6809586 . IUSAF here means the banded version, not raw reciprocal UN assessments.</a:t>
            </a:r>
          </a:p>
          <a:p xmlns:a="http://schemas.openxmlformats.org/drawingml/2006/main">
            <a:r>
              <a:t>Analytical deductions: with equal treatment of Parties and normalized reciprocal weighting, inverse total GNI favours smaller economies whereas inverse per-capita GNI favours lower income per person. Raw reciprocal sensitivity and concentration depend on data spread. Continuous differentiation applies before introducing bands. Band thresholds and within-band equality are consequences of the banded model.</a:t>
            </a:r>
          </a:p>
          <a:p xmlns:a="http://schemas.openxmlformats.org/drawingml/2006/main">
            <a:r>
              <a:t>Fair comparison: distinguish the capacity indicator from the transformation. Either GNI or UN assessments can be banded, smoothed or given a chosen ratio range. Neither input directly measures biodiversity stewardship. Both require explicit treatment of missing data, allocation normalization, and integration with the Equality Base and other criteria. AHTEG report CBD/DSI/AHTEG/2026/2/3, Annex II paragraphs 4(c) and 5 (pages 10–11): https://www.cbd.int/doc/c/db87/84a9/9022dd04f7afc8880d009149/dsi-ahteg-2026-02-03-en.pdf . The report specifies per-capita GNI. The 25% uplift is relative to the base allocation, not 25 percentage points of the fund. Paragraph 28 discusses the weak biodiversity-specific connection of these proxies. Exact inversion and normalisation should be checked in the implementation before quantitative comparisons. No numerical ranking or claim of superiority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e33aae51142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b345a55044f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eaf8e868c4a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b4e5c2356441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bb6e0c22042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e9940643e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E0A144-C777-4DE6-AA07-3C7FE85715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BD7DB5E-23A4-4706-93CB-D1D38C7F24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43393F-0DCA-488A-9C31-0F2AC8B25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6F2F83-3919-4901-B81B-D0C4D175C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8AD9BC-7159-4E4D-B959-BE9F3A6F9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9A6310-C78B-4011-B5F3-E52F354BA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A2EEB2-3EE4-4A34-A9FB-7D83FDB73B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EB9B42-5CAF-45EE-82AD-4E0BD97139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931E59-60EC-4BEF-88A1-84EA821FC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D92D16-9574-4EFB-8C5D-B4A0288B3B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b19f6ac46b4dcd" /><Relationship Type="http://schemas.openxmlformats.org/officeDocument/2006/relationships/slideLayout" Target="/ppt/slideLayouts/slideLayout1.xml" Id="Rb636b7f5213c45c0" /><Relationship Type="http://schemas.openxmlformats.org/officeDocument/2006/relationships/slideLayout" Target="/ppt/slideLayouts/slideLayout2.xml" Id="Rebc9232dd27246c6" /><Relationship Type="http://schemas.openxmlformats.org/officeDocument/2006/relationships/slideLayout" Target="/ppt/slideLayouts/slideLayout3.xml" Id="R8a25fd9002dd416b" /><Relationship Type="http://schemas.openxmlformats.org/officeDocument/2006/relationships/slideLayout" Target="/ppt/slideLayouts/slideLayout4.xml" Id="R2ee4afc1e4894072" /><Relationship Type="http://schemas.openxmlformats.org/officeDocument/2006/relationships/slideLayout" Target="/ppt/slideLayouts/slideLayout5.xml" Id="R80acb2382f5d4fa6" /><Relationship Type="http://schemas.openxmlformats.org/officeDocument/2006/relationships/slideLayout" Target="/ppt/slideLayouts/slideLayout6.xml" Id="Rf7e911ac4670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36b7f5213c45c0"/>
    <p:sldLayoutId xmlns:r="http://schemas.openxmlformats.org/officeDocument/2006/relationships" id="2147483650" r:id="Rebc9232dd27246c6"/>
    <p:sldLayoutId xmlns:r="http://schemas.openxmlformats.org/officeDocument/2006/relationships" id="2147483651" r:id="R8a25fd9002dd416b"/>
    <p:sldLayoutId xmlns:r="http://schemas.openxmlformats.org/officeDocument/2006/relationships" id="2147483652" r:id="R2ee4afc1e4894072"/>
    <p:sldLayoutId xmlns:r="http://schemas.openxmlformats.org/officeDocument/2006/relationships" id="2147483653" r:id="R80acb2382f5d4fa6"/>
    <p:sldLayoutId xmlns:r="http://schemas.openxmlformats.org/officeDocument/2006/relationships" id="2147483654" r:id="Rf7e911ac4670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b6c176b1f4f0b" /><Relationship Type="http://schemas.openxmlformats.org/officeDocument/2006/relationships/notesSlide" Target="/ppt/notesSlides/notesSlide1.xml" Id="R27e56e7e34a3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753EA-8FBC-4A4C-AD68-9D3714C6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Criterion C: inverted GNI per capita or IUSAF?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B1F48-58E0-4C6E-BEC7-D25BFE73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Strengths and trade-offs of the two options in the AHTEG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1B73D-FE30-46AD-B8E9-CAEA528C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390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95751-5FFF-4C4E-A237-63D5EF74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1352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Both are economic proxies. Neither directly measures biodiversity capacity needs.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40547-45D6-4058-868F-9E65ACE6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Inverted GNI per capita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7C679-5EC9-4411-A800-8EB6D44D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1: Equality Base uplift of 25% for LDCs and SIDS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1E5A5-BFC6-4CEF-87BB-21C21496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IUSAF (banded UN scale)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A21B8-9070-4751-918F-BC9161B3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Option 2: equal Equality Base, plus six capacity bands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475FE-D026-4B42-BCD9-5EAEF5F2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90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8F223-0571-44D4-A924-5707E337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C7C98-5957-4FBF-AA00-0630C6CB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B7B69-36B6-4A98-9313-71C9A162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Direct link to average income per person.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BD38E-98C3-4AE2-8F1E-09A57AD9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Uses the agreed, GNI-based UN capacity-to-pay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BBB4E-AC6C-4EB2-8F62-0F101941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Continuous scores can retain differences between countries.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2FFA4-125B-4E61-8C53-D6BA4163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767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Incorporates debt and low per capita income adjustments.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5B6D2-1DC8-45E3-BABC-73BD0067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Avoids directly penalising countries for a larger population.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1A0A2-D3C2-40EC-A2B1-3CB199E4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482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Bands set an explicit ratio for the capacity component.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00A7E-06B1-4190-8BF0-99618544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508CA-BE5B-4374-B99A-00EFBFB9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817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LIMITATIONS /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6DBD6-F466-4980-A451-7DE197E4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AHTEG identified bias against LDCs/SIDS, prompting a 25% base uplift.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112D7-7924-43AB-A3D5-3C4D26DB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Input still reflects economy size and UN contribution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73F536-2C9A-4A9E-81A5-56251305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Results depend on inversion, normalisation and data choices.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30C62-3CEA-430D-AF52-043225C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05625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Band cut-offs create jumps and equal scores within bands.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4227E-7A69-4D89-AE3E-0D6E34D8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GNI alone omits debt burdens and within-country inequality.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EE59F-3E3C-466B-BE77-A0D9FF6E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4295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Weights and the 3.75:1 ratio need policy justification.</a:t>
            </a:r>
          </a:p>
        </p:txBody>
      </p:sp>
    </p:spTree>
    <p:extLst>
      <p:ext uri="{BB962C8B-B14F-4D97-AF65-F5344CB8AC3E}">
        <p14:creationId xmlns:p14="http://schemas.microsoft.com/office/powerpoint/2010/main" val="1606107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2026-10-12T18:12:35.1640000Z</dcterms:created>
  <dcterms:modified xsi:type="dcterms:W3CDTF">2026-10-12T18:12:35.1640000Z</dcterms:modified>
</coreProperties>
</file>