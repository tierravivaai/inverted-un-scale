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11e94989b454a0d" /><Relationship Type="http://schemas.openxmlformats.org/officeDocument/2006/relationships/extended-properties" Target="/docProps/app.xml" Id="Rdc5ee312401c4704" /><Relationship Type="http://schemas.openxmlformats.org/officeDocument/2006/relationships/officeDocument" Target="/ppt/presentation.xml" Id="Rd22c8148c17c4f36" /></Relationships>
</file>

<file path=ppt/presentation.xml><?xml version="1.0" encoding="utf-8"?>
<p:presentation xmlns:p="http://schemas.openxmlformats.org/presentationml/2006/main">
  <p:sldMasterIdLst>
    <p:sldMasterId xmlns:r="http://schemas.openxmlformats.org/officeDocument/2006/relationships" id="2147483648" r:id="R06a90c5736644cbc"/>
  </p:sldMasterIdLst>
  <p:notesMasterIdLst>
    <p:notesMasterId xmlns:r="http://schemas.openxmlformats.org/officeDocument/2006/relationships" r:id="R4369063ad2d54f87"/>
  </p:notesMasterIdLst>
  <p:sldIdLst>
    <p:sldId xmlns:r="http://schemas.openxmlformats.org/officeDocument/2006/relationships" id="256" r:id="R3a48043a62ce491d"/>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fb50fdbc484a15" /><Relationship Type="http://schemas.openxmlformats.org/officeDocument/2006/relationships/slideMaster" Target="/ppt/slideMasters/slideMaster1.xml" Id="R06a90c5736644cbc" /><Relationship Type="http://schemas.openxmlformats.org/officeDocument/2006/relationships/notesMaster" Target="/ppt/notesMasters/notesMaster1.xml" Id="R4369063ad2d54f87" /><Relationship Type="http://schemas.openxmlformats.org/officeDocument/2006/relationships/presProps" Target="/ppt/presProps.xml" Id="Ra3242251244c4814" /><Relationship Type="http://schemas.openxmlformats.org/officeDocument/2006/relationships/tableStyles" Target="/ppt/tableStyles.xml" Id="R8dfe2cdfd64a4c92" /><Relationship Type="http://schemas.openxmlformats.org/officeDocument/2006/relationships/slide" Target="/ppt/slides/slide1.xml" Id="R3a48043a62ce49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abeece640740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0d29388c2242f2" /><Relationship Type="http://schemas.openxmlformats.org/officeDocument/2006/relationships/notesMaster" Target="/ppt/notesMasters/notesMaster1.xml" Id="R6fbeac69136848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interpretation (12 October 2026):</a:t>
            </a:r>
          </a:p>
          <a:p xmlns:a="http://schemas.openxmlformats.org/drawingml/2006/main">
            <a:r>
              <a:t>UN Committee on Contributions, scale of assessments 2025–2027: https://www.un.org/en/ga/contributions/budget.shtml and https://www.un.org/ldcportal/node/933 . GNI is the starting point, with debt-burden and low-per-capita-income adjustments, minimum assessment and ceilings. The UN agreement concerns contributions, not adoption of IUSAF for Cali allocations.</a:t>
            </a:r>
          </a:p>
          <a:p xmlns:a="http://schemas.openxmlformats.org/drawingml/2006/main">
            <a:r>
              <a:t>World Bank, GNI per capita methodology and limitations: https://datahelpdesk.worldbank.org/knowledgebase/articles/378831-why-use-gni-per-capita-to-classify-economies-into and https://datahelpdesk.worldbank.org/knowledgebase/articles/378832-what-is-the-world-bank-atlas-method . GNI per capita does not describe within-country inequality. Atlas conversion smooths but does not eliminate exchange-rate effects. Data availability and reference-year choices require checking under either approach.</a:t>
            </a:r>
          </a:p>
          <a:p xmlns:a="http://schemas.openxmlformats.org/drawingml/2006/main">
            <a:r>
              <a:t>IUSAF banding and 3.75:1 ratio: user's paper and modelling files previously inspected in this task, https://papers.ssrn.com/sol3/papers.cfm?abstract_id=6809586 . IUSAF here means the banded version, not raw reciprocal UN assessments.</a:t>
            </a:r>
          </a:p>
          <a:p xmlns:a="http://schemas.openxmlformats.org/drawingml/2006/main">
            <a:r>
              <a:t>Analytical deductions: with equal treatment of Parties and normalized reciprocal weighting, inverse total GNI favours smaller economies whereas inverse per-capita GNI favours lower income per person. Raw reciprocal sensitivity and concentration depend on data spread. Continuous differentiation applies before introducing bands. Band thresholds and within-band equality are consequences of the banded model.</a:t>
            </a:r>
          </a:p>
          <a:p xmlns:a="http://schemas.openxmlformats.org/drawingml/2006/main">
            <a:r>
              <a:t>Fair comparison: distinguish the capacity indicator from the transformation. Either GNI or UN assessments can be banded, smoothed or given a chosen ratio range. Neither input directly measures biodiversity stewardship. Both require explicit treatment of missing data, allocation normalization, and integration with the Equality Base and other criteria. No source for the competing proposal was supplied, so its total/per-capita definition remains open. No numerical ranking or claim of superiority is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79affddfd944c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5cf40713ced450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98db1c854da495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d561a48eebe446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f8701ab948a419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bbf184241de4d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6276491-007F-4C93-82E4-094A3A651BDB}"/>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69EB00C-3565-47FD-B507-BF037BB3A257}"/>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43A17D3-B454-4D3D-87DC-E155D26FC90D}"/>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57454C7-548C-42EE-8E30-99DD4E8A2316}"/>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4F20D38-53BE-470C-9FEF-3B44C496EF6B}"/>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73777DD-4F48-444F-A26B-56FC1546A5FA}"/>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20116C3-C797-481E-98C0-6CD7E7BFDF07}"/>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497F2DD-D6EF-4E6B-B2A7-01123412069A}"/>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F85656-CEBD-4981-AED2-0C63D6933714}"/>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DC35FA2-27FA-4407-93EF-6773A0FA08A6}"/>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78f355b9fe4e78" /><Relationship Type="http://schemas.openxmlformats.org/officeDocument/2006/relationships/slideLayout" Target="/ppt/slideLayouts/slideLayout1.xml" Id="Rd6656df9c7f245c9" /><Relationship Type="http://schemas.openxmlformats.org/officeDocument/2006/relationships/slideLayout" Target="/ppt/slideLayouts/slideLayout2.xml" Id="R2a765f8b0962475f" /><Relationship Type="http://schemas.openxmlformats.org/officeDocument/2006/relationships/slideLayout" Target="/ppt/slideLayouts/slideLayout3.xml" Id="R89856759d6ec4a64" /><Relationship Type="http://schemas.openxmlformats.org/officeDocument/2006/relationships/slideLayout" Target="/ppt/slideLayouts/slideLayout4.xml" Id="R4a01595ec5664b29" /><Relationship Type="http://schemas.openxmlformats.org/officeDocument/2006/relationships/slideLayout" Target="/ppt/slideLayouts/slideLayout5.xml" Id="Re3a46db4c8484d71" /><Relationship Type="http://schemas.openxmlformats.org/officeDocument/2006/relationships/slideLayout" Target="/ppt/slideLayouts/slideLayout6.xml" Id="Rd62e284aa21046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656df9c7f245c9"/>
    <p:sldLayoutId xmlns:r="http://schemas.openxmlformats.org/officeDocument/2006/relationships" id="2147483650" r:id="R2a765f8b0962475f"/>
    <p:sldLayoutId xmlns:r="http://schemas.openxmlformats.org/officeDocument/2006/relationships" id="2147483651" r:id="R89856759d6ec4a64"/>
    <p:sldLayoutId xmlns:r="http://schemas.openxmlformats.org/officeDocument/2006/relationships" id="2147483652" r:id="R4a01595ec5664b29"/>
    <p:sldLayoutId xmlns:r="http://schemas.openxmlformats.org/officeDocument/2006/relationships" id="2147483653" r:id="Re3a46db4c8484d71"/>
    <p:sldLayoutId xmlns:r="http://schemas.openxmlformats.org/officeDocument/2006/relationships" id="2147483654" r:id="Rd62e284aa21046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687d9f40e0c44ac" /><Relationship Type="http://schemas.openxmlformats.org/officeDocument/2006/relationships/notesSlide" Target="/ppt/notesSlides/notesSlide1.xml" Id="R7bada4211b3146f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023ED1D0-32C0-424B-82C9-245CB58AA8F4}"/>
              </a:ext>
            </a:extLst>
          </p:cNvPr>
          <p:cNvSpPr>
            <a:spLocks xmlns:a="http://schemas.openxmlformats.org/drawingml/2006/main" noGrp="1"/>
          </p:cNvSpPr>
          <p:nvPr/>
        </p:nvSpPr>
        <p:spPr>
          <a:xfrm xmlns:a="http://schemas.openxmlformats.org/drawingml/2006/main">
            <a:off x="666750" y="333375"/>
            <a:ext cx="1390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600" b="1">
                <a:solidFill>
                  <a:srgbClr val="193445"/>
                </a:solidFill>
                <a:latin typeface="Helvetica Neue"/>
                <a:ea typeface="Helvetica Neue"/>
                <a:cs typeface="Helvetica Neue"/>
              </a:defRPr>
            </a:defPPr>
          </a:lstStyle>
          <a:p xmlns:a="http://schemas.openxmlformats.org/drawingml/2006/main">
            <a:pPr algn="l">
              <a:defRPr sz="3600" b="1">
                <a:solidFill>
                  <a:srgbClr val="193445"/>
                </a:solidFill>
                <a:latin typeface="Helvetica Neue"/>
                <a:ea typeface="Helvetica Neue"/>
                <a:cs typeface="Helvetica Neue"/>
              </a:defRPr>
            </a:pPr>
            <a:r>
              <a:rPr sz="3600" b="1">
                <a:solidFill>
                  <a:srgbClr val="193445"/>
                </a:solidFill>
                <a:latin typeface="Helvetica Neue"/>
                <a:ea typeface="Helvetica Neue"/>
                <a:cs typeface="Helvetica Neue"/>
              </a:rPr>
              <a:t>Criterion C: inverted GNI or IUSAF?</a:t>
            </a:r>
          </a:p>
        </p:txBody>
      </p:sp>
      <p:sp>
        <p:nvSpPr>
          <p:cNvPr id="2" name="">
            <a:extLst xmlns:a="http://schemas.openxmlformats.org/drawingml/2006/main">
              <a:ext uri="{FF2B5EF4-FFF2-40B4-BE49-F238E27FC236}">
                <a16:creationId xmlns:a16="http://schemas.microsoft.com/office/drawing/2014/main" id="{4C5E45D5-B2B4-474C-BBC5-78251015A650}"/>
              </a:ext>
            </a:extLst>
          </p:cNvPr>
          <p:cNvSpPr>
            <a:spLocks xmlns:a="http://schemas.openxmlformats.org/drawingml/2006/main" noGrp="1"/>
          </p:cNvSpPr>
          <p:nvPr/>
        </p:nvSpPr>
        <p:spPr>
          <a:xfrm xmlns:a="http://schemas.openxmlformats.org/drawingml/2006/main">
            <a:off x="666750" y="1047750"/>
            <a:ext cx="1390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0">
                <a:solidFill>
                  <a:srgbClr val="526775"/>
                </a:solidFill>
                <a:latin typeface="Helvetica Neue"/>
                <a:ea typeface="Helvetica Neue"/>
                <a:cs typeface="Helvetica Neue"/>
              </a:defRPr>
            </a:defPPr>
          </a:lstStyle>
          <a:p xmlns:a="http://schemas.openxmlformats.org/drawingml/2006/main">
            <a:pPr algn="l">
              <a:defRPr sz="2025" b="0">
                <a:solidFill>
                  <a:srgbClr val="526775"/>
                </a:solidFill>
                <a:latin typeface="Helvetica Neue"/>
                <a:ea typeface="Helvetica Neue"/>
                <a:cs typeface="Helvetica Neue"/>
              </a:defRPr>
            </a:pPr>
            <a:r>
              <a:rPr sz="2025" b="0">
                <a:solidFill>
                  <a:srgbClr val="526775"/>
                </a:solidFill>
                <a:latin typeface="Helvetica Neue"/>
                <a:ea typeface="Helvetica Neue"/>
                <a:cs typeface="Helvetica Neue"/>
              </a:rPr>
              <a:t>Two ways to reflect economic capacity in Cali Fund allocations</a:t>
            </a:r>
          </a:p>
        </p:txBody>
      </p:sp>
      <p:sp>
        <p:nvSpPr>
          <p:cNvPr id="3" name="">
            <a:extLst xmlns:a="http://schemas.openxmlformats.org/drawingml/2006/main">
              <a:ext uri="{FF2B5EF4-FFF2-40B4-BE49-F238E27FC236}">
                <a16:creationId xmlns:a16="http://schemas.microsoft.com/office/drawing/2014/main" id="{B24E45B9-D3B2-45B7-86FA-782B610EDA6C}"/>
              </a:ext>
            </a:extLst>
          </p:cNvPr>
          <p:cNvSpPr>
            <a:spLocks xmlns:a="http://schemas.openxmlformats.org/drawingml/2006/main" noGrp="1"/>
          </p:cNvSpPr>
          <p:nvPr/>
        </p:nvSpPr>
        <p:spPr>
          <a:xfrm xmlns:a="http://schemas.openxmlformats.org/drawingml/2006/main">
            <a:off x="666750" y="1666875"/>
            <a:ext cx="13906500" cy="619125"/>
          </a:xfrm>
          <a:prstGeom xmlns:a="http://schemas.openxmlformats.org/drawingml/2006/main" prst="rect">
            <a:avLst/>
          </a:prstGeom>
          <a:solidFill xmlns:a="http://schemas.openxmlformats.org/drawingml/2006/main">
            <a:srgbClr val="F1F5F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4C33927-38F0-48E5-95F8-6727CDAF495C}"/>
              </a:ext>
            </a:extLst>
          </p:cNvPr>
          <p:cNvSpPr>
            <a:spLocks xmlns:a="http://schemas.openxmlformats.org/drawingml/2006/main" noGrp="1"/>
          </p:cNvSpPr>
          <p:nvPr/>
        </p:nvSpPr>
        <p:spPr>
          <a:xfrm xmlns:a="http://schemas.openxmlformats.org/drawingml/2006/main">
            <a:off x="857250" y="1743075"/>
            <a:ext cx="13525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93445"/>
                </a:solidFill>
                <a:latin typeface="Helvetica Neue"/>
                <a:ea typeface="Helvetica Neue"/>
                <a:cs typeface="Helvetica Neue"/>
              </a:defRPr>
            </a:defPPr>
          </a:lstStyle>
          <a:p xmlns:a="http://schemas.openxmlformats.org/drawingml/2006/main">
            <a:pPr algn="l">
              <a:defRPr sz="1725" b="0">
                <a:solidFill>
                  <a:srgbClr val="193445"/>
                </a:solidFill>
                <a:latin typeface="Helvetica Neue"/>
                <a:ea typeface="Helvetica Neue"/>
                <a:cs typeface="Helvetica Neue"/>
              </a:defRPr>
            </a:pPr>
            <a:r>
              <a:rPr sz="1725" b="0">
                <a:solidFill>
                  <a:srgbClr val="193445"/>
                </a:solidFill>
                <a:latin typeface="Helvetica Neue"/>
                <a:ea typeface="Helvetica Neue"/>
                <a:cs typeface="Helvetica Neue"/>
              </a:rPr>
              <a:t>Definition matters: inverse total GNI favours smaller economies; inverse GNI per capita favours lower income per person.</a:t>
            </a:r>
          </a:p>
        </p:txBody>
      </p:sp>
      <p:sp>
        <p:nvSpPr>
          <p:cNvPr id="5" name="">
            <a:extLst xmlns:a="http://schemas.openxmlformats.org/drawingml/2006/main">
              <a:ext uri="{FF2B5EF4-FFF2-40B4-BE49-F238E27FC236}">
                <a16:creationId xmlns:a16="http://schemas.microsoft.com/office/drawing/2014/main" id="{C17A774B-B89F-44CE-8399-A16C7C9AB6F0}"/>
              </a:ext>
            </a:extLst>
          </p:cNvPr>
          <p:cNvSpPr>
            <a:spLocks xmlns:a="http://schemas.openxmlformats.org/drawingml/2006/main" noGrp="1"/>
          </p:cNvSpPr>
          <p:nvPr/>
        </p:nvSpPr>
        <p:spPr>
          <a:xfrm xmlns:a="http://schemas.openxmlformats.org/drawingml/2006/main">
            <a:off x="666750" y="2571750"/>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700" b="1">
                <a:solidFill>
                  <a:srgbClr val="147D92"/>
                </a:solidFill>
                <a:latin typeface="Helvetica Neue"/>
                <a:ea typeface="Helvetica Neue"/>
                <a:cs typeface="Helvetica Neue"/>
              </a:defRPr>
            </a:defPPr>
          </a:lstStyle>
          <a:p xmlns:a="http://schemas.openxmlformats.org/drawingml/2006/main">
            <a:pPr algn="l">
              <a:defRPr sz="2700" b="1">
                <a:solidFill>
                  <a:srgbClr val="147D92"/>
                </a:solidFill>
                <a:latin typeface="Helvetica Neue"/>
                <a:ea typeface="Helvetica Neue"/>
                <a:cs typeface="Helvetica Neue"/>
              </a:defRPr>
            </a:pPr>
            <a:r>
              <a:rPr sz="2700" b="1">
                <a:solidFill>
                  <a:srgbClr val="147D92"/>
                </a:solidFill>
                <a:latin typeface="Helvetica Neue"/>
                <a:ea typeface="Helvetica Neue"/>
                <a:cs typeface="Helvetica Neue"/>
              </a:rPr>
              <a:t>Inverted GNI</a:t>
            </a:r>
          </a:p>
        </p:txBody>
      </p:sp>
      <p:sp>
        <p:nvSpPr>
          <p:cNvPr id="6" name="">
            <a:extLst xmlns:a="http://schemas.openxmlformats.org/drawingml/2006/main">
              <a:ext uri="{FF2B5EF4-FFF2-40B4-BE49-F238E27FC236}">
                <a16:creationId xmlns:a16="http://schemas.microsoft.com/office/drawing/2014/main" id="{7C47006F-D991-4B66-9E1D-9E3886F32054}"/>
              </a:ext>
            </a:extLst>
          </p:cNvPr>
          <p:cNvSpPr>
            <a:spLocks xmlns:a="http://schemas.openxmlformats.org/drawingml/2006/main" noGrp="1"/>
          </p:cNvSpPr>
          <p:nvPr/>
        </p:nvSpPr>
        <p:spPr>
          <a:xfrm xmlns:a="http://schemas.openxmlformats.org/drawingml/2006/main">
            <a:off x="666750" y="3048000"/>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526775"/>
                </a:solidFill>
                <a:latin typeface="Helvetica Neue"/>
                <a:ea typeface="Helvetica Neue"/>
                <a:cs typeface="Helvetica Neue"/>
              </a:defRPr>
            </a:defPPr>
          </a:lstStyle>
          <a:p xmlns:a="http://schemas.openxmlformats.org/drawingml/2006/main">
            <a:pPr algn="l">
              <a:defRPr sz="1725" b="0">
                <a:solidFill>
                  <a:srgbClr val="526775"/>
                </a:solidFill>
                <a:latin typeface="Helvetica Neue"/>
                <a:ea typeface="Helvetica Neue"/>
                <a:cs typeface="Helvetica Neue"/>
              </a:defRPr>
            </a:pPr>
            <a:r>
              <a:rPr sz="1725" b="0">
                <a:solidFill>
                  <a:srgbClr val="526775"/>
                </a:solidFill>
                <a:latin typeface="Helvetica Neue"/>
                <a:ea typeface="Helvetica Neue"/>
                <a:cs typeface="Helvetica Neue"/>
              </a:rPr>
              <a:t>A direct income measure, converted into allocation weights</a:t>
            </a:r>
          </a:p>
        </p:txBody>
      </p:sp>
      <p:sp>
        <p:nvSpPr>
          <p:cNvPr id="7" name="">
            <a:extLst xmlns:a="http://schemas.openxmlformats.org/drawingml/2006/main">
              <a:ext uri="{FF2B5EF4-FFF2-40B4-BE49-F238E27FC236}">
                <a16:creationId xmlns:a16="http://schemas.microsoft.com/office/drawing/2014/main" id="{2A55B20B-9DB2-47F4-8D58-F026570C1F7C}"/>
              </a:ext>
            </a:extLst>
          </p:cNvPr>
          <p:cNvSpPr>
            <a:spLocks xmlns:a="http://schemas.openxmlformats.org/drawingml/2006/main" noGrp="1"/>
          </p:cNvSpPr>
          <p:nvPr/>
        </p:nvSpPr>
        <p:spPr>
          <a:xfrm xmlns:a="http://schemas.openxmlformats.org/drawingml/2006/main">
            <a:off x="8096250" y="2571750"/>
            <a:ext cx="647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700" b="1">
                <a:solidFill>
                  <a:srgbClr val="147D92"/>
                </a:solidFill>
                <a:latin typeface="Helvetica Neue"/>
                <a:ea typeface="Helvetica Neue"/>
                <a:cs typeface="Helvetica Neue"/>
              </a:defRPr>
            </a:defPPr>
          </a:lstStyle>
          <a:p xmlns:a="http://schemas.openxmlformats.org/drawingml/2006/main">
            <a:pPr algn="l">
              <a:defRPr sz="2700" b="1">
                <a:solidFill>
                  <a:srgbClr val="147D92"/>
                </a:solidFill>
                <a:latin typeface="Helvetica Neue"/>
                <a:ea typeface="Helvetica Neue"/>
                <a:cs typeface="Helvetica Neue"/>
              </a:defRPr>
            </a:pPr>
            <a:r>
              <a:rPr sz="2700" b="1">
                <a:solidFill>
                  <a:srgbClr val="147D92"/>
                </a:solidFill>
                <a:latin typeface="Helvetica Neue"/>
                <a:ea typeface="Helvetica Neue"/>
                <a:cs typeface="Helvetica Neue"/>
              </a:rPr>
              <a:t>IUSAF (banded UN scale)</a:t>
            </a:r>
          </a:p>
        </p:txBody>
      </p:sp>
      <p:sp>
        <p:nvSpPr>
          <p:cNvPr id="8" name="">
            <a:extLst xmlns:a="http://schemas.openxmlformats.org/drawingml/2006/main">
              <a:ext uri="{FF2B5EF4-FFF2-40B4-BE49-F238E27FC236}">
                <a16:creationId xmlns:a16="http://schemas.microsoft.com/office/drawing/2014/main" id="{01F7C6E3-708C-4FF5-A7BE-B074A4836CB9}"/>
              </a:ext>
            </a:extLst>
          </p:cNvPr>
          <p:cNvSpPr>
            <a:spLocks xmlns:a="http://schemas.openxmlformats.org/drawingml/2006/main" noGrp="1"/>
          </p:cNvSpPr>
          <p:nvPr/>
        </p:nvSpPr>
        <p:spPr>
          <a:xfrm xmlns:a="http://schemas.openxmlformats.org/drawingml/2006/main">
            <a:off x="8096250" y="3048000"/>
            <a:ext cx="647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526775"/>
                </a:solidFill>
                <a:latin typeface="Helvetica Neue"/>
                <a:ea typeface="Helvetica Neue"/>
                <a:cs typeface="Helvetica Neue"/>
              </a:defRPr>
            </a:defPPr>
          </a:lstStyle>
          <a:p xmlns:a="http://schemas.openxmlformats.org/drawingml/2006/main">
            <a:pPr algn="l">
              <a:defRPr sz="1725" b="0">
                <a:solidFill>
                  <a:srgbClr val="526775"/>
                </a:solidFill>
                <a:latin typeface="Helvetica Neue"/>
                <a:ea typeface="Helvetica Neue"/>
                <a:cs typeface="Helvetica Neue"/>
              </a:defRPr>
            </a:pPr>
            <a:r>
              <a:rPr sz="1725" b="0">
                <a:solidFill>
                  <a:srgbClr val="526775"/>
                </a:solidFill>
                <a:latin typeface="Helvetica Neue"/>
                <a:ea typeface="Helvetica Neue"/>
                <a:cs typeface="Helvetica Neue"/>
              </a:rPr>
              <a:t>A GNI-based, adjusted UN assessment converted into bands</a:t>
            </a:r>
          </a:p>
        </p:txBody>
      </p:sp>
      <p:sp>
        <p:nvSpPr>
          <p:cNvPr id="9" name="">
            <a:extLst xmlns:a="http://schemas.openxmlformats.org/drawingml/2006/main">
              <a:ext uri="{FF2B5EF4-FFF2-40B4-BE49-F238E27FC236}">
                <a16:creationId xmlns:a16="http://schemas.microsoft.com/office/drawing/2014/main" id="{25F84AB0-89CD-4C50-92DF-E36E92040C7B}"/>
              </a:ext>
            </a:extLst>
          </p:cNvPr>
          <p:cNvSpPr>
            <a:spLocks xmlns:a="http://schemas.openxmlformats.org/drawingml/2006/main" noGrp="1"/>
          </p:cNvSpPr>
          <p:nvPr/>
        </p:nvSpPr>
        <p:spPr>
          <a:xfrm xmlns:a="http://schemas.openxmlformats.org/drawingml/2006/main">
            <a:off x="7600950" y="2571750"/>
            <a:ext cx="19050" cy="4667250"/>
          </a:xfrm>
          <a:prstGeom xmlns:a="http://schemas.openxmlformats.org/drawingml/2006/main" prst="rect">
            <a:avLst/>
          </a:prstGeom>
          <a:solidFill xmlns:a="http://schemas.openxmlformats.org/drawingml/2006/main">
            <a:srgbClr val="DCE4E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575220F-83A2-40AB-9EE2-128803D0464B}"/>
              </a:ext>
            </a:extLst>
          </p:cNvPr>
          <p:cNvSpPr>
            <a:spLocks xmlns:a="http://schemas.openxmlformats.org/drawingml/2006/main" noGrp="1"/>
          </p:cNvSpPr>
          <p:nvPr/>
        </p:nvSpPr>
        <p:spPr>
          <a:xfrm xmlns:a="http://schemas.openxmlformats.org/drawingml/2006/main">
            <a:off x="666750" y="3695700"/>
            <a:ext cx="657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1">
                <a:solidFill>
                  <a:srgbClr val="147D92"/>
                </a:solidFill>
                <a:latin typeface="Helvetica Neue"/>
                <a:ea typeface="Helvetica Neue"/>
                <a:cs typeface="Helvetica Neue"/>
              </a:defRPr>
            </a:defPPr>
          </a:lstStyle>
          <a:p xmlns:a="http://schemas.openxmlformats.org/drawingml/2006/main">
            <a:pPr algn="l">
              <a:defRPr sz="1650" b="1">
                <a:solidFill>
                  <a:srgbClr val="147D92"/>
                </a:solidFill>
                <a:latin typeface="Helvetica Neue"/>
                <a:ea typeface="Helvetica Neue"/>
                <a:cs typeface="Helvetica Neue"/>
              </a:defRPr>
            </a:pPr>
            <a:r>
              <a:rPr sz="1650" b="1">
                <a:solidFill>
                  <a:srgbClr val="147D92"/>
                </a:solidFill>
                <a:latin typeface="Helvetica Neue"/>
                <a:ea typeface="Helvetica Neue"/>
                <a:cs typeface="Helvetica Neue"/>
              </a:rPr>
              <a:t>STRENGTHS</a:t>
            </a:r>
          </a:p>
        </p:txBody>
      </p:sp>
      <p:sp>
        <p:nvSpPr>
          <p:cNvPr id="11" name="">
            <a:extLst xmlns:a="http://schemas.openxmlformats.org/drawingml/2006/main">
              <a:ext uri="{FF2B5EF4-FFF2-40B4-BE49-F238E27FC236}">
                <a16:creationId xmlns:a16="http://schemas.microsoft.com/office/drawing/2014/main" id="{F3A5FB06-09F2-441A-88CA-109C89EB2111}"/>
              </a:ext>
            </a:extLst>
          </p:cNvPr>
          <p:cNvSpPr>
            <a:spLocks xmlns:a="http://schemas.openxmlformats.org/drawingml/2006/main" noGrp="1"/>
          </p:cNvSpPr>
          <p:nvPr/>
        </p:nvSpPr>
        <p:spPr>
          <a:xfrm xmlns:a="http://schemas.openxmlformats.org/drawingml/2006/main">
            <a:off x="8096250" y="3695700"/>
            <a:ext cx="647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1">
                <a:solidFill>
                  <a:srgbClr val="147D92"/>
                </a:solidFill>
                <a:latin typeface="Helvetica Neue"/>
                <a:ea typeface="Helvetica Neue"/>
                <a:cs typeface="Helvetica Neue"/>
              </a:defRPr>
            </a:defPPr>
          </a:lstStyle>
          <a:p xmlns:a="http://schemas.openxmlformats.org/drawingml/2006/main">
            <a:pPr algn="l">
              <a:defRPr sz="1650" b="1">
                <a:solidFill>
                  <a:srgbClr val="147D92"/>
                </a:solidFill>
                <a:latin typeface="Helvetica Neue"/>
                <a:ea typeface="Helvetica Neue"/>
                <a:cs typeface="Helvetica Neue"/>
              </a:defRPr>
            </a:pPr>
            <a:r>
              <a:rPr sz="1650" b="1">
                <a:solidFill>
                  <a:srgbClr val="147D92"/>
                </a:solidFill>
                <a:latin typeface="Helvetica Neue"/>
                <a:ea typeface="Helvetica Neue"/>
                <a:cs typeface="Helvetica Neue"/>
              </a:rPr>
              <a:t>STRENGTHS</a:t>
            </a:r>
          </a:p>
        </p:txBody>
      </p:sp>
      <p:sp>
        <p:nvSpPr>
          <p:cNvPr id="12" name="">
            <a:extLst xmlns:a="http://schemas.openxmlformats.org/drawingml/2006/main">
              <a:ext uri="{FF2B5EF4-FFF2-40B4-BE49-F238E27FC236}">
                <a16:creationId xmlns:a16="http://schemas.microsoft.com/office/drawing/2014/main" id="{637E8448-24CA-44FC-A5ED-C17D5AF3B8A0}"/>
              </a:ext>
            </a:extLst>
          </p:cNvPr>
          <p:cNvSpPr>
            <a:spLocks xmlns:a="http://schemas.openxmlformats.org/drawingml/2006/main" noGrp="1"/>
          </p:cNvSpPr>
          <p:nvPr/>
        </p:nvSpPr>
        <p:spPr>
          <a:xfrm xmlns:a="http://schemas.openxmlformats.org/drawingml/2006/main">
            <a:off x="666750" y="4105275"/>
            <a:ext cx="657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93445"/>
                </a:solidFill>
                <a:latin typeface="Helvetica Neue"/>
                <a:ea typeface="Helvetica Neue"/>
                <a:cs typeface="Helvetica Neue"/>
              </a:defRPr>
            </a:defPPr>
          </a:lstStyle>
          <a:p xmlns:a="http://schemas.openxmlformats.org/drawingml/2006/main">
            <a:pPr algn="l">
              <a:defRPr sz="1875" b="0">
                <a:solidFill>
                  <a:srgbClr val="193445"/>
                </a:solidFill>
                <a:latin typeface="Helvetica Neue"/>
                <a:ea typeface="Helvetica Neue"/>
                <a:cs typeface="Helvetica Neue"/>
              </a:defRPr>
            </a:pPr>
            <a:r>
              <a:rPr sz="1875" b="0">
                <a:solidFill>
                  <a:srgbClr val="193445"/>
                </a:solidFill>
                <a:latin typeface="Helvetica Neue"/>
                <a:ea typeface="Helvetica Neue"/>
                <a:cs typeface="Helvetica Neue"/>
              </a:rPr>
              <a:t>Simple, transparent link between income and allocation.</a:t>
            </a:r>
          </a:p>
        </p:txBody>
      </p:sp>
      <p:sp>
        <p:nvSpPr>
          <p:cNvPr id="13" name="">
            <a:extLst xmlns:a="http://schemas.openxmlformats.org/drawingml/2006/main">
              <a:ext uri="{FF2B5EF4-FFF2-40B4-BE49-F238E27FC236}">
                <a16:creationId xmlns:a16="http://schemas.microsoft.com/office/drawing/2014/main" id="{93EB71A9-ABB6-4644-ABEB-168975A46B3C}"/>
              </a:ext>
            </a:extLst>
          </p:cNvPr>
          <p:cNvSpPr>
            <a:spLocks xmlns:a="http://schemas.openxmlformats.org/drawingml/2006/main" noGrp="1"/>
          </p:cNvSpPr>
          <p:nvPr/>
        </p:nvSpPr>
        <p:spPr>
          <a:xfrm xmlns:a="http://schemas.openxmlformats.org/drawingml/2006/main">
            <a:off x="8096250" y="4105275"/>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93445"/>
                </a:solidFill>
                <a:latin typeface="Helvetica Neue"/>
                <a:ea typeface="Helvetica Neue"/>
                <a:cs typeface="Helvetica Neue"/>
              </a:defRPr>
            </a:defPPr>
          </a:lstStyle>
          <a:p xmlns:a="http://schemas.openxmlformats.org/drawingml/2006/main">
            <a:pPr algn="l">
              <a:defRPr sz="1875" b="0">
                <a:solidFill>
                  <a:srgbClr val="193445"/>
                </a:solidFill>
                <a:latin typeface="Helvetica Neue"/>
                <a:ea typeface="Helvetica Neue"/>
                <a:cs typeface="Helvetica Neue"/>
              </a:defRPr>
            </a:pPr>
            <a:r>
              <a:rPr sz="1875" b="0">
                <a:solidFill>
                  <a:srgbClr val="193445"/>
                </a:solidFill>
                <a:latin typeface="Helvetica Neue"/>
                <a:ea typeface="Helvetica Neue"/>
                <a:cs typeface="Helvetica Neue"/>
              </a:rPr>
              <a:t>Uses an agreed UN capacity-to-pay reference, based on GNI.</a:t>
            </a:r>
          </a:p>
        </p:txBody>
      </p:sp>
      <p:sp>
        <p:nvSpPr>
          <p:cNvPr id="14" name="">
            <a:extLst xmlns:a="http://schemas.openxmlformats.org/drawingml/2006/main">
              <a:ext uri="{FF2B5EF4-FFF2-40B4-BE49-F238E27FC236}">
                <a16:creationId xmlns:a16="http://schemas.microsoft.com/office/drawing/2014/main" id="{307AD6D4-9DF0-40CA-9EAF-C2C1BECD36E3}"/>
              </a:ext>
            </a:extLst>
          </p:cNvPr>
          <p:cNvSpPr>
            <a:spLocks xmlns:a="http://schemas.openxmlformats.org/drawingml/2006/main" noGrp="1"/>
          </p:cNvSpPr>
          <p:nvPr/>
        </p:nvSpPr>
        <p:spPr>
          <a:xfrm xmlns:a="http://schemas.openxmlformats.org/drawingml/2006/main">
            <a:off x="666750" y="4676775"/>
            <a:ext cx="657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93445"/>
                </a:solidFill>
                <a:latin typeface="Helvetica Neue"/>
                <a:ea typeface="Helvetica Neue"/>
                <a:cs typeface="Helvetica Neue"/>
              </a:defRPr>
            </a:defPPr>
          </a:lstStyle>
          <a:p xmlns:a="http://schemas.openxmlformats.org/drawingml/2006/main">
            <a:pPr algn="l">
              <a:defRPr sz="1875" b="0">
                <a:solidFill>
                  <a:srgbClr val="193445"/>
                </a:solidFill>
                <a:latin typeface="Helvetica Neue"/>
                <a:ea typeface="Helvetica Neue"/>
                <a:cs typeface="Helvetica Neue"/>
              </a:defRPr>
            </a:pPr>
            <a:r>
              <a:rPr sz="1875" b="0">
                <a:solidFill>
                  <a:srgbClr val="193445"/>
                </a:solidFill>
                <a:latin typeface="Helvetica Neue"/>
                <a:ea typeface="Helvetica Neue"/>
                <a:cs typeface="Helvetica Neue"/>
              </a:rPr>
              <a:t>Continuous weights can retain differences between countries.</a:t>
            </a:r>
          </a:p>
        </p:txBody>
      </p:sp>
      <p:sp>
        <p:nvSpPr>
          <p:cNvPr id="15" name="">
            <a:extLst xmlns:a="http://schemas.openxmlformats.org/drawingml/2006/main">
              <a:ext uri="{FF2B5EF4-FFF2-40B4-BE49-F238E27FC236}">
                <a16:creationId xmlns:a16="http://schemas.microsoft.com/office/drawing/2014/main" id="{5B8577DC-1076-424A-A600-67CA47C739C1}"/>
              </a:ext>
            </a:extLst>
          </p:cNvPr>
          <p:cNvSpPr>
            <a:spLocks xmlns:a="http://schemas.openxmlformats.org/drawingml/2006/main" noGrp="1"/>
          </p:cNvSpPr>
          <p:nvPr/>
        </p:nvSpPr>
        <p:spPr>
          <a:xfrm xmlns:a="http://schemas.openxmlformats.org/drawingml/2006/main">
            <a:off x="8096250" y="4676775"/>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93445"/>
                </a:solidFill>
                <a:latin typeface="Helvetica Neue"/>
                <a:ea typeface="Helvetica Neue"/>
                <a:cs typeface="Helvetica Neue"/>
              </a:defRPr>
            </a:defPPr>
          </a:lstStyle>
          <a:p xmlns:a="http://schemas.openxmlformats.org/drawingml/2006/main">
            <a:pPr algn="l">
              <a:defRPr sz="1875" b="0">
                <a:solidFill>
                  <a:srgbClr val="193445"/>
                </a:solidFill>
                <a:latin typeface="Helvetica Neue"/>
                <a:ea typeface="Helvetica Neue"/>
                <a:cs typeface="Helvetica Neue"/>
              </a:defRPr>
            </a:pPr>
            <a:r>
              <a:rPr sz="1875" b="0">
                <a:solidFill>
                  <a:srgbClr val="193445"/>
                </a:solidFill>
                <a:latin typeface="Helvetica Neue"/>
                <a:ea typeface="Helvetica Neue"/>
                <a:cs typeface="Helvetica Neue"/>
              </a:rPr>
              <a:t>Incorporates debt and low per capita income adjustments.</a:t>
            </a:r>
          </a:p>
        </p:txBody>
      </p:sp>
      <p:sp>
        <p:nvSpPr>
          <p:cNvPr id="16" name="">
            <a:extLst xmlns:a="http://schemas.openxmlformats.org/drawingml/2006/main">
              <a:ext uri="{FF2B5EF4-FFF2-40B4-BE49-F238E27FC236}">
                <a16:creationId xmlns:a16="http://schemas.microsoft.com/office/drawing/2014/main" id="{36BAB2F9-4BA8-4B9B-93EE-2B190C326413}"/>
              </a:ext>
            </a:extLst>
          </p:cNvPr>
          <p:cNvSpPr>
            <a:spLocks xmlns:a="http://schemas.openxmlformats.org/drawingml/2006/main" noGrp="1"/>
          </p:cNvSpPr>
          <p:nvPr/>
        </p:nvSpPr>
        <p:spPr>
          <a:xfrm xmlns:a="http://schemas.openxmlformats.org/drawingml/2006/main">
            <a:off x="666750" y="5248275"/>
            <a:ext cx="657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93445"/>
                </a:solidFill>
                <a:latin typeface="Helvetica Neue"/>
                <a:ea typeface="Helvetica Neue"/>
                <a:cs typeface="Helvetica Neue"/>
              </a:defRPr>
            </a:defPPr>
          </a:lstStyle>
          <a:p xmlns:a="http://schemas.openxmlformats.org/drawingml/2006/main">
            <a:pPr algn="l">
              <a:defRPr sz="1875" b="0">
                <a:solidFill>
                  <a:srgbClr val="193445"/>
                </a:solidFill>
                <a:latin typeface="Helvetica Neue"/>
                <a:ea typeface="Helvetica Neue"/>
                <a:cs typeface="Helvetica Neue"/>
              </a:defRPr>
            </a:pPr>
            <a:r>
              <a:rPr sz="1875" b="0">
                <a:solidFill>
                  <a:srgbClr val="193445"/>
                </a:solidFill>
                <a:latin typeface="Helvetica Neue"/>
                <a:ea typeface="Helvetica Neue"/>
                <a:cs typeface="Helvetica Neue"/>
              </a:rPr>
              <a:t>Per capita GNI targets income per person rather than economy size.</a:t>
            </a:r>
          </a:p>
        </p:txBody>
      </p:sp>
      <p:sp>
        <p:nvSpPr>
          <p:cNvPr id="17" name="">
            <a:extLst xmlns:a="http://schemas.openxmlformats.org/drawingml/2006/main">
              <a:ext uri="{FF2B5EF4-FFF2-40B4-BE49-F238E27FC236}">
                <a16:creationId xmlns:a16="http://schemas.microsoft.com/office/drawing/2014/main" id="{472727A1-BFD4-4676-88FE-1AB8987D7AA5}"/>
              </a:ext>
            </a:extLst>
          </p:cNvPr>
          <p:cNvSpPr>
            <a:spLocks xmlns:a="http://schemas.openxmlformats.org/drawingml/2006/main" noGrp="1"/>
          </p:cNvSpPr>
          <p:nvPr/>
        </p:nvSpPr>
        <p:spPr>
          <a:xfrm xmlns:a="http://schemas.openxmlformats.org/drawingml/2006/main">
            <a:off x="8096250" y="5248275"/>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93445"/>
                </a:solidFill>
                <a:latin typeface="Helvetica Neue"/>
                <a:ea typeface="Helvetica Neue"/>
                <a:cs typeface="Helvetica Neue"/>
              </a:defRPr>
            </a:defPPr>
          </a:lstStyle>
          <a:p xmlns:a="http://schemas.openxmlformats.org/drawingml/2006/main">
            <a:pPr algn="l">
              <a:defRPr sz="1875" b="0">
                <a:solidFill>
                  <a:srgbClr val="193445"/>
                </a:solidFill>
                <a:latin typeface="Helvetica Neue"/>
                <a:ea typeface="Helvetica Neue"/>
                <a:cs typeface="Helvetica Neue"/>
              </a:defRPr>
            </a:pPr>
            <a:r>
              <a:rPr sz="1875" b="0">
                <a:solidFill>
                  <a:srgbClr val="193445"/>
                </a:solidFill>
                <a:latin typeface="Helvetica Neue"/>
                <a:ea typeface="Helvetica Neue"/>
                <a:cs typeface="Helvetica Neue"/>
              </a:rPr>
              <a:t>Banded weights make allocation ratios explicit policy choices.</a:t>
            </a:r>
          </a:p>
        </p:txBody>
      </p:sp>
      <p:sp>
        <p:nvSpPr>
          <p:cNvPr id="18" name="">
            <a:extLst xmlns:a="http://schemas.openxmlformats.org/drawingml/2006/main">
              <a:ext uri="{FF2B5EF4-FFF2-40B4-BE49-F238E27FC236}">
                <a16:creationId xmlns:a16="http://schemas.microsoft.com/office/drawing/2014/main" id="{92962004-2C45-4D38-B207-89827887A777}"/>
              </a:ext>
            </a:extLst>
          </p:cNvPr>
          <p:cNvSpPr>
            <a:spLocks xmlns:a="http://schemas.openxmlformats.org/drawingml/2006/main" noGrp="1"/>
          </p:cNvSpPr>
          <p:nvPr/>
        </p:nvSpPr>
        <p:spPr>
          <a:xfrm xmlns:a="http://schemas.openxmlformats.org/drawingml/2006/main">
            <a:off x="666750" y="5981700"/>
            <a:ext cx="657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1">
                <a:solidFill>
                  <a:srgbClr val="A77923"/>
                </a:solidFill>
                <a:latin typeface="Helvetica Neue"/>
                <a:ea typeface="Helvetica Neue"/>
                <a:cs typeface="Helvetica Neue"/>
              </a:defRPr>
            </a:defPPr>
          </a:lstStyle>
          <a:p xmlns:a="http://schemas.openxmlformats.org/drawingml/2006/main">
            <a:pPr algn="l">
              <a:defRPr sz="1650" b="1">
                <a:solidFill>
                  <a:srgbClr val="A77923"/>
                </a:solidFill>
                <a:latin typeface="Helvetica Neue"/>
                <a:ea typeface="Helvetica Neue"/>
                <a:cs typeface="Helvetica Neue"/>
              </a:defRPr>
            </a:pPr>
            <a:r>
              <a:rPr sz="1650" b="1">
                <a:solidFill>
                  <a:srgbClr val="A77923"/>
                </a:solidFill>
                <a:latin typeface="Helvetica Neue"/>
                <a:ea typeface="Helvetica Neue"/>
                <a:cs typeface="Helvetica Neue"/>
              </a:rPr>
              <a:t>LIMITATIONS / CHOICES</a:t>
            </a:r>
          </a:p>
        </p:txBody>
      </p:sp>
      <p:sp>
        <p:nvSpPr>
          <p:cNvPr id="19" name="">
            <a:extLst xmlns:a="http://schemas.openxmlformats.org/drawingml/2006/main">
              <a:ext uri="{FF2B5EF4-FFF2-40B4-BE49-F238E27FC236}">
                <a16:creationId xmlns:a16="http://schemas.microsoft.com/office/drawing/2014/main" id="{958AD1AB-0B15-4066-9740-D0A3368A77A1}"/>
              </a:ext>
            </a:extLst>
          </p:cNvPr>
          <p:cNvSpPr>
            <a:spLocks xmlns:a="http://schemas.openxmlformats.org/drawingml/2006/main" noGrp="1"/>
          </p:cNvSpPr>
          <p:nvPr/>
        </p:nvSpPr>
        <p:spPr>
          <a:xfrm xmlns:a="http://schemas.openxmlformats.org/drawingml/2006/main">
            <a:off x="8096250" y="5981700"/>
            <a:ext cx="647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1">
                <a:solidFill>
                  <a:srgbClr val="A77923"/>
                </a:solidFill>
                <a:latin typeface="Helvetica Neue"/>
                <a:ea typeface="Helvetica Neue"/>
                <a:cs typeface="Helvetica Neue"/>
              </a:defRPr>
            </a:defPPr>
          </a:lstStyle>
          <a:p xmlns:a="http://schemas.openxmlformats.org/drawingml/2006/main">
            <a:pPr algn="l">
              <a:defRPr sz="1650" b="1">
                <a:solidFill>
                  <a:srgbClr val="A77923"/>
                </a:solidFill>
                <a:latin typeface="Helvetica Neue"/>
                <a:ea typeface="Helvetica Neue"/>
                <a:cs typeface="Helvetica Neue"/>
              </a:defRPr>
            </a:pPr>
            <a:r>
              <a:rPr sz="1650" b="1">
                <a:solidFill>
                  <a:srgbClr val="A77923"/>
                </a:solidFill>
                <a:latin typeface="Helvetica Neue"/>
                <a:ea typeface="Helvetica Neue"/>
                <a:cs typeface="Helvetica Neue"/>
              </a:rPr>
              <a:t>LIMITATIONS / CHOICES</a:t>
            </a:r>
          </a:p>
        </p:txBody>
      </p:sp>
      <p:sp>
        <p:nvSpPr>
          <p:cNvPr id="20" name="">
            <a:extLst xmlns:a="http://schemas.openxmlformats.org/drawingml/2006/main">
              <a:ext uri="{FF2B5EF4-FFF2-40B4-BE49-F238E27FC236}">
                <a16:creationId xmlns:a16="http://schemas.microsoft.com/office/drawing/2014/main" id="{5EFCFBF5-897D-4D86-B533-35AF7CDA0FEC}"/>
              </a:ext>
            </a:extLst>
          </p:cNvPr>
          <p:cNvSpPr>
            <a:spLocks xmlns:a="http://schemas.openxmlformats.org/drawingml/2006/main" noGrp="1"/>
          </p:cNvSpPr>
          <p:nvPr/>
        </p:nvSpPr>
        <p:spPr>
          <a:xfrm xmlns:a="http://schemas.openxmlformats.org/drawingml/2006/main">
            <a:off x="666750" y="6381750"/>
            <a:ext cx="657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93445"/>
                </a:solidFill>
                <a:latin typeface="Helvetica Neue"/>
                <a:ea typeface="Helvetica Neue"/>
                <a:cs typeface="Helvetica Neue"/>
              </a:defRPr>
            </a:defPPr>
          </a:lstStyle>
          <a:p xmlns:a="http://schemas.openxmlformats.org/drawingml/2006/main">
            <a:pPr algn="l">
              <a:defRPr sz="1875" b="0">
                <a:solidFill>
                  <a:srgbClr val="193445"/>
                </a:solidFill>
                <a:latin typeface="Helvetica Neue"/>
                <a:ea typeface="Helvetica Neue"/>
                <a:cs typeface="Helvetica Neue"/>
              </a:defRPr>
            </a:pPr>
            <a:r>
              <a:rPr sz="1875" b="0">
                <a:solidFill>
                  <a:srgbClr val="193445"/>
                </a:solidFill>
                <a:latin typeface="Helvetica Neue"/>
                <a:ea typeface="Helvetica Neue"/>
                <a:cs typeface="Helvetica Neue"/>
              </a:rPr>
              <a:t>Must specify total or per capita GNI, conversion method and year.</a:t>
            </a:r>
          </a:p>
        </p:txBody>
      </p:sp>
      <p:sp>
        <p:nvSpPr>
          <p:cNvPr id="21" name="">
            <a:extLst xmlns:a="http://schemas.openxmlformats.org/drawingml/2006/main">
              <a:ext uri="{FF2B5EF4-FFF2-40B4-BE49-F238E27FC236}">
                <a16:creationId xmlns:a16="http://schemas.microsoft.com/office/drawing/2014/main" id="{B33EFD63-4631-4A59-8EA7-020B89E25513}"/>
              </a:ext>
            </a:extLst>
          </p:cNvPr>
          <p:cNvSpPr>
            <a:spLocks xmlns:a="http://schemas.openxmlformats.org/drawingml/2006/main" noGrp="1"/>
          </p:cNvSpPr>
          <p:nvPr/>
        </p:nvSpPr>
        <p:spPr>
          <a:xfrm xmlns:a="http://schemas.openxmlformats.org/drawingml/2006/main">
            <a:off x="8096250" y="6381750"/>
            <a:ext cx="647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93445"/>
                </a:solidFill>
                <a:latin typeface="Helvetica Neue"/>
                <a:ea typeface="Helvetica Neue"/>
                <a:cs typeface="Helvetica Neue"/>
              </a:defRPr>
            </a:defPPr>
          </a:lstStyle>
          <a:p xmlns:a="http://schemas.openxmlformats.org/drawingml/2006/main">
            <a:pPr algn="l">
              <a:defRPr sz="1875" b="0">
                <a:solidFill>
                  <a:srgbClr val="193445"/>
                </a:solidFill>
                <a:latin typeface="Helvetica Neue"/>
                <a:ea typeface="Helvetica Neue"/>
                <a:cs typeface="Helvetica Neue"/>
              </a:defRPr>
            </a:pPr>
            <a:r>
              <a:rPr sz="1875" b="0">
                <a:solidFill>
                  <a:srgbClr val="193445"/>
                </a:solidFill>
                <a:latin typeface="Helvetica Neue"/>
                <a:ea typeface="Helvetica Neue"/>
                <a:cs typeface="Helvetica Neue"/>
              </a:rPr>
              <a:t>Contribution rules, including caps and floors, carry into the input.</a:t>
            </a:r>
          </a:p>
        </p:txBody>
      </p:sp>
      <p:sp>
        <p:nvSpPr>
          <p:cNvPr id="22" name="">
            <a:extLst xmlns:a="http://schemas.openxmlformats.org/drawingml/2006/main">
              <a:ext uri="{FF2B5EF4-FFF2-40B4-BE49-F238E27FC236}">
                <a16:creationId xmlns:a16="http://schemas.microsoft.com/office/drawing/2014/main" id="{9DAAE9AC-3E38-414B-8FDA-56A686CEEB3C}"/>
              </a:ext>
            </a:extLst>
          </p:cNvPr>
          <p:cNvSpPr>
            <a:spLocks xmlns:a="http://schemas.openxmlformats.org/drawingml/2006/main" noGrp="1"/>
          </p:cNvSpPr>
          <p:nvPr/>
        </p:nvSpPr>
        <p:spPr>
          <a:xfrm xmlns:a="http://schemas.openxmlformats.org/drawingml/2006/main">
            <a:off x="666750" y="6905625"/>
            <a:ext cx="657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93445"/>
                </a:solidFill>
                <a:latin typeface="Helvetica Neue"/>
                <a:ea typeface="Helvetica Neue"/>
                <a:cs typeface="Helvetica Neue"/>
              </a:defRPr>
            </a:defPPr>
          </a:lstStyle>
          <a:p xmlns:a="http://schemas.openxmlformats.org/drawingml/2006/main">
            <a:pPr algn="l">
              <a:defRPr sz="1875" b="0">
                <a:solidFill>
                  <a:srgbClr val="193445"/>
                </a:solidFill>
                <a:latin typeface="Helvetica Neue"/>
                <a:ea typeface="Helvetica Neue"/>
                <a:cs typeface="Helvetica Neue"/>
              </a:defRPr>
            </a:pPr>
            <a:r>
              <a:rPr sz="1875" b="0">
                <a:solidFill>
                  <a:srgbClr val="193445"/>
                </a:solidFill>
                <a:latin typeface="Helvetica Neue"/>
                <a:ea typeface="Helvetica Neue"/>
                <a:cs typeface="Helvetica Neue"/>
              </a:rPr>
              <a:t>Raw reciprocals can concentrate allocations at the low end.</a:t>
            </a:r>
          </a:p>
        </p:txBody>
      </p:sp>
      <p:sp>
        <p:nvSpPr>
          <p:cNvPr id="23" name="">
            <a:extLst xmlns:a="http://schemas.openxmlformats.org/drawingml/2006/main">
              <a:ext uri="{FF2B5EF4-FFF2-40B4-BE49-F238E27FC236}">
                <a16:creationId xmlns:a16="http://schemas.microsoft.com/office/drawing/2014/main" id="{197471D6-5B1E-4145-A534-FD8B701B86B1}"/>
              </a:ext>
            </a:extLst>
          </p:cNvPr>
          <p:cNvSpPr>
            <a:spLocks xmlns:a="http://schemas.openxmlformats.org/drawingml/2006/main" noGrp="1"/>
          </p:cNvSpPr>
          <p:nvPr/>
        </p:nvSpPr>
        <p:spPr>
          <a:xfrm xmlns:a="http://schemas.openxmlformats.org/drawingml/2006/main">
            <a:off x="8096250" y="6905625"/>
            <a:ext cx="647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93445"/>
                </a:solidFill>
                <a:latin typeface="Helvetica Neue"/>
                <a:ea typeface="Helvetica Neue"/>
                <a:cs typeface="Helvetica Neue"/>
              </a:defRPr>
            </a:defPPr>
          </a:lstStyle>
          <a:p xmlns:a="http://schemas.openxmlformats.org/drawingml/2006/main">
            <a:pPr algn="l">
              <a:defRPr sz="1875" b="0">
                <a:solidFill>
                  <a:srgbClr val="193445"/>
                </a:solidFill>
                <a:latin typeface="Helvetica Neue"/>
                <a:ea typeface="Helvetica Neue"/>
                <a:cs typeface="Helvetica Neue"/>
              </a:defRPr>
            </a:pPr>
            <a:r>
              <a:rPr sz="1875" b="0">
                <a:solidFill>
                  <a:srgbClr val="193445"/>
                </a:solidFill>
                <a:latin typeface="Helvetica Neue"/>
                <a:ea typeface="Helvetica Neue"/>
                <a:cs typeface="Helvetica Neue"/>
              </a:rPr>
              <a:t>Band thresholds create jumps and equal allocations within bands.</a:t>
            </a:r>
          </a:p>
        </p:txBody>
      </p:sp>
      <p:sp>
        <p:nvSpPr>
          <p:cNvPr id="24" name="">
            <a:extLst xmlns:a="http://schemas.openxmlformats.org/drawingml/2006/main">
              <a:ext uri="{FF2B5EF4-FFF2-40B4-BE49-F238E27FC236}">
                <a16:creationId xmlns:a16="http://schemas.microsoft.com/office/drawing/2014/main" id="{38B4F670-430C-4EA7-8B2C-F964806E6B6A}"/>
              </a:ext>
            </a:extLst>
          </p:cNvPr>
          <p:cNvSpPr>
            <a:spLocks xmlns:a="http://schemas.openxmlformats.org/drawingml/2006/main" noGrp="1"/>
          </p:cNvSpPr>
          <p:nvPr/>
        </p:nvSpPr>
        <p:spPr>
          <a:xfrm xmlns:a="http://schemas.openxmlformats.org/drawingml/2006/main">
            <a:off x="666750" y="7429500"/>
            <a:ext cx="657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93445"/>
                </a:solidFill>
                <a:latin typeface="Helvetica Neue"/>
                <a:ea typeface="Helvetica Neue"/>
                <a:cs typeface="Helvetica Neue"/>
              </a:defRPr>
            </a:defPPr>
          </a:lstStyle>
          <a:p xmlns:a="http://schemas.openxmlformats.org/drawingml/2006/main">
            <a:pPr algn="l">
              <a:defRPr sz="1875" b="0">
                <a:solidFill>
                  <a:srgbClr val="193445"/>
                </a:solidFill>
                <a:latin typeface="Helvetica Neue"/>
                <a:ea typeface="Helvetica Neue"/>
                <a:cs typeface="Helvetica Neue"/>
              </a:defRPr>
            </a:pPr>
            <a:r>
              <a:rPr sz="1875" b="0">
                <a:solidFill>
                  <a:srgbClr val="193445"/>
                </a:solidFill>
                <a:latin typeface="Helvetica Neue"/>
                <a:ea typeface="Helvetica Neue"/>
                <a:cs typeface="Helvetica Neue"/>
              </a:rPr>
              <a:t>GNI alone omits debt burdens and within-country inequality.</a:t>
            </a:r>
          </a:p>
        </p:txBody>
      </p:sp>
      <p:sp>
        <p:nvSpPr>
          <p:cNvPr id="25" name="">
            <a:extLst xmlns:a="http://schemas.openxmlformats.org/drawingml/2006/main">
              <a:ext uri="{FF2B5EF4-FFF2-40B4-BE49-F238E27FC236}">
                <a16:creationId xmlns:a16="http://schemas.microsoft.com/office/drawing/2014/main" id="{6307C109-3719-4927-9EA4-F9E37CF818F7}"/>
              </a:ext>
            </a:extLst>
          </p:cNvPr>
          <p:cNvSpPr>
            <a:spLocks xmlns:a="http://schemas.openxmlformats.org/drawingml/2006/main" noGrp="1"/>
          </p:cNvSpPr>
          <p:nvPr/>
        </p:nvSpPr>
        <p:spPr>
          <a:xfrm xmlns:a="http://schemas.openxmlformats.org/drawingml/2006/main">
            <a:off x="8096250" y="7429500"/>
            <a:ext cx="647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93445"/>
                </a:solidFill>
                <a:latin typeface="Helvetica Neue"/>
                <a:ea typeface="Helvetica Neue"/>
                <a:cs typeface="Helvetica Neue"/>
              </a:defRPr>
            </a:defPPr>
          </a:lstStyle>
          <a:p xmlns:a="http://schemas.openxmlformats.org/drawingml/2006/main">
            <a:pPr algn="l">
              <a:defRPr sz="1875" b="0">
                <a:solidFill>
                  <a:srgbClr val="193445"/>
                </a:solidFill>
                <a:latin typeface="Helvetica Neue"/>
                <a:ea typeface="Helvetica Neue"/>
                <a:cs typeface="Helvetica Neue"/>
              </a:defRPr>
            </a:pPr>
            <a:r>
              <a:rPr sz="1875" b="0">
                <a:solidFill>
                  <a:srgbClr val="193445"/>
                </a:solidFill>
                <a:latin typeface="Helvetica Neue"/>
                <a:ea typeface="Helvetica Neue"/>
                <a:cs typeface="Helvetica Neue"/>
              </a:rPr>
              <a:t>Band weights and the 3.75:1 baseline require policy justification.</a:t>
            </a:r>
          </a:p>
        </p:txBody>
      </p:sp>
    </p:spTree>
    <p:extLst>
      <p:ext uri="{BB962C8B-B14F-4D97-AF65-F5344CB8AC3E}">
        <p14:creationId xmlns:p14="http://schemas.microsoft.com/office/powerpoint/2010/main" val="504602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2026-10-12T18:02:04.2150000Z</dcterms:created>
  <dcterms:modified xsi:type="dcterms:W3CDTF">2026-10-12T18:02:04.2150000Z</dcterms:modified>
</coreProperties>
</file>