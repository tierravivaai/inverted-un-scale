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e86a6a1ac4195" /><Relationship Type="http://schemas.openxmlformats.org/officeDocument/2006/relationships/extended-properties" Target="/docProps/app.xml" Id="R2140df4c3e4b48e4" /><Relationship Type="http://schemas.openxmlformats.org/officeDocument/2006/relationships/officeDocument" Target="/ppt/presentation.xml" Id="R70108160ad39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c319550da4bc9"/>
  </p:sldMasterIdLst>
  <p:notesMasterIdLst>
    <p:notesMasterId xmlns:r="http://schemas.openxmlformats.org/officeDocument/2006/relationships" r:id="R3c957c6f2b904d05"/>
  </p:notesMasterIdLst>
  <p:sldIdLst>
    <p:sldId xmlns:r="http://schemas.openxmlformats.org/officeDocument/2006/relationships" id="256" r:id="Ref56037bc1674ef4"/>
    <p:sldId xmlns:r="http://schemas.openxmlformats.org/officeDocument/2006/relationships" id="257" r:id="R91951e53b46e4366"/>
    <p:sldId xmlns:r="http://schemas.openxmlformats.org/officeDocument/2006/relationships" id="258" r:id="Rbadfb448d96b4100"/>
    <p:sldId xmlns:r="http://schemas.openxmlformats.org/officeDocument/2006/relationships" id="259" r:id="R3f1743acf89c4c7f"/>
    <p:sldId xmlns:r="http://schemas.openxmlformats.org/officeDocument/2006/relationships" id="260" r:id="Rc8617fb8bc8c4474"/>
    <p:sldId xmlns:r="http://schemas.openxmlformats.org/officeDocument/2006/relationships" id="261" r:id="R491c648c10e24d83"/>
    <p:sldId xmlns:r="http://schemas.openxmlformats.org/officeDocument/2006/relationships" id="262" r:id="R9c2f7661b1f14f5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4cf262ebc460e" /><Relationship Type="http://schemas.openxmlformats.org/officeDocument/2006/relationships/slideMaster" Target="/ppt/slideMasters/slideMaster1.xml" Id="R80ac319550da4bc9" /><Relationship Type="http://schemas.openxmlformats.org/officeDocument/2006/relationships/notesMaster" Target="/ppt/notesMasters/notesMaster1.xml" Id="R3c957c6f2b904d05" /><Relationship Type="http://schemas.openxmlformats.org/officeDocument/2006/relationships/presProps" Target="/ppt/presProps.xml" Id="R44507c33632c4fae" /><Relationship Type="http://schemas.openxmlformats.org/officeDocument/2006/relationships/tableStyles" Target="/ppt/tableStyles.xml" Id="Rd6b779f552a444b5" /><Relationship Type="http://schemas.openxmlformats.org/officeDocument/2006/relationships/slide" Target="/ppt/slides/slide1.xml" Id="Ref56037bc1674ef4" /><Relationship Type="http://schemas.openxmlformats.org/officeDocument/2006/relationships/slide" Target="/ppt/slides/slide2.xml" Id="R91951e53b46e4366" /><Relationship Type="http://schemas.openxmlformats.org/officeDocument/2006/relationships/slide" Target="/ppt/slides/slide3.xml" Id="Rbadfb448d96b4100" /><Relationship Type="http://schemas.openxmlformats.org/officeDocument/2006/relationships/slide" Target="/ppt/slides/slide4.xml" Id="R3f1743acf89c4c7f" /><Relationship Type="http://schemas.openxmlformats.org/officeDocument/2006/relationships/slide" Target="/ppt/slides/slide5.xml" Id="Rc8617fb8bc8c4474" /><Relationship Type="http://schemas.openxmlformats.org/officeDocument/2006/relationships/slide" Target="/ppt/slides/slide6.xml" Id="R491c648c10e24d83" /><Relationship Type="http://schemas.openxmlformats.org/officeDocument/2006/relationships/slide" Target="/ppt/slides/slide7.xml" Id="R9c2f7661b1f14f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7a7a18fb64b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695ebf76674e5b" /><Relationship Type="http://schemas.openxmlformats.org/officeDocument/2006/relationships/notesMaster" Target="/ppt/notesMasters/notesMaster1.xml" Id="Rfef377b724bd4a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dd0c71cf24fad" /><Relationship Type="http://schemas.openxmlformats.org/officeDocument/2006/relationships/notesMaster" Target="/ppt/notesMasters/notesMaster1.xml" Id="R545b838c74fa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b0e03d95f84a05" /><Relationship Type="http://schemas.openxmlformats.org/officeDocument/2006/relationships/notesMaster" Target="/ppt/notesMasters/notesMaster1.xml" Id="R53fc33cc8f1242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15017307645c7" /><Relationship Type="http://schemas.openxmlformats.org/officeDocument/2006/relationships/notesMaster" Target="/ppt/notesMasters/notesMaster1.xml" Id="Rb09df5ab5f4746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7fc8bddcfe41a1" /><Relationship Type="http://schemas.openxmlformats.org/officeDocument/2006/relationships/notesMaster" Target="/ppt/notesMasters/notesMaster1.xml" Id="R13bbf2828779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3af8b40974de0" /><Relationship Type="http://schemas.openxmlformats.org/officeDocument/2006/relationships/notesMaster" Target="/ppt/notesMasters/notesMaster1.xml" Id="R267b7cf30e17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e26eae2f094e6c" /><Relationship Type="http://schemas.openxmlformats.org/officeDocument/2006/relationships/notesMaster" Target="/ppt/notesMasters/notesMaster1.xml" Id="R89ce25854345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user-supplied cali-allocation-blocks.pptx slide 1 and CBD/DSI/AHTEG/2026/2/3 Annex II. https://www.cbd.int/doc/c/db87/84a9/9022dd04f7afc8880d009149/dsi-ahteg-2026-02-03-en.pdf . This slide concerns the recipient-Party allocation pool, not a division of the whole fund between Parties and indigenous peoples and local communities. Equality Base is spelled out to distinguish it from criterion B. The original 50% base is modified by a 25% base uplift for LDC/SIDS under the GNI option. Weights and other details follow the report, including the current lack of applicable data for criterion B. This is a summary redrawn for widescreen, not an exact reproduction of the original block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UN assessments, banded zoom, raw inversion and banded IUSAF. Independent vertical scales within the zoom.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shares by band within the 142-Party cohort. UN assessment shares normalized within the cohort for this comparison.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stewardship scenarios with SOSAC 3% and TSAC 0%, 1.5%, 2.5% and 3%. The 3% boundary marginally reverses Band 5 and Band 6 mean ordering.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cali-allocation-blocks.pptx, slide 2, and subsequent user clarifications. This is a possible solution, not an assertion of an adopted AHTEG allocation formula. Equality Base is distinct from criterion B (DSI). The user requested teal for Equality Base plus criterion C through IUSAF, gold for Biodiversity Stewardship Index criteria A, B and D, and a grey IPBES Rapid Assessment process block feeding the index. No component weights, 50:50 split, country scores or disbursement mechanism are implied. DSI = digital sequence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Appendix: full UN assessment distribution for 193 assessed Member States, before recipient eligibility filtering.</a:t>
            </a:r>
          </a:p>
          <a:p xmlns:a="http://schemas.openxmlformats.org/drawingml/2006/main">
            <a:r>
              <a:t>Existing figure from this task. Sources and data: outputs/iusaf-distribution/README.md and figure-data.csv; stewardship details in stewardship-notes.md. Figures retain their existing labels. The UN input is the repository 2027 column. The assessment period is 2025–2027, although the four-panel figure retains the user-requested 2024–2027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d4503ebda45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b981d245d46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ab15bf7fc47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51dac851a46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6da668b8f45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0905506c5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628C0-F3AD-4514-8935-8FD5C7C85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E6C2D3-241B-4569-A6A1-35722CF675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EE7320-D922-4EB0-9D51-4BD573A4A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65C40C-5D92-4919-8552-4B3E54B895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19DF1D-1859-421B-B8BB-2DE945718B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79CBF7-F722-45E0-BCA3-7C4002A7B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D6DC25-25CC-40A8-A425-61C00073E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ADD3D8-F0A6-4F88-8CA7-603928FBE8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6F59C0-E200-4691-BA48-8D04B1D86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751A18-4900-4E99-99E8-DFF26FEEBE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178f8f3254c09" /><Relationship Type="http://schemas.openxmlformats.org/officeDocument/2006/relationships/slideLayout" Target="/ppt/slideLayouts/slideLayout1.xml" Id="Ra3d9cf2ccb2342c9" /><Relationship Type="http://schemas.openxmlformats.org/officeDocument/2006/relationships/slideLayout" Target="/ppt/slideLayouts/slideLayout2.xml" Id="R328a984946fa4aab" /><Relationship Type="http://schemas.openxmlformats.org/officeDocument/2006/relationships/slideLayout" Target="/ppt/slideLayouts/slideLayout3.xml" Id="R7fcf388a8eb14c1f" /><Relationship Type="http://schemas.openxmlformats.org/officeDocument/2006/relationships/slideLayout" Target="/ppt/slideLayouts/slideLayout4.xml" Id="Re35ebf2e64ba4e74" /><Relationship Type="http://schemas.openxmlformats.org/officeDocument/2006/relationships/slideLayout" Target="/ppt/slideLayouts/slideLayout5.xml" Id="R73e9052a5a8e4ccc" /><Relationship Type="http://schemas.openxmlformats.org/officeDocument/2006/relationships/slideLayout" Target="/ppt/slideLayouts/slideLayout6.xml" Id="Re85c004d6123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9cf2ccb2342c9"/>
    <p:sldLayoutId xmlns:r="http://schemas.openxmlformats.org/officeDocument/2006/relationships" id="2147483650" r:id="R328a984946fa4aab"/>
    <p:sldLayoutId xmlns:r="http://schemas.openxmlformats.org/officeDocument/2006/relationships" id="2147483651" r:id="R7fcf388a8eb14c1f"/>
    <p:sldLayoutId xmlns:r="http://schemas.openxmlformats.org/officeDocument/2006/relationships" id="2147483652" r:id="Re35ebf2e64ba4e74"/>
    <p:sldLayoutId xmlns:r="http://schemas.openxmlformats.org/officeDocument/2006/relationships" id="2147483653" r:id="R73e9052a5a8e4ccc"/>
    <p:sldLayoutId xmlns:r="http://schemas.openxmlformats.org/officeDocument/2006/relationships" id="2147483654" r:id="Re85c004d6123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94b8967bd44b1" /><Relationship Type="http://schemas.openxmlformats.org/officeDocument/2006/relationships/notesSlide" Target="/ppt/notesSlides/notesSlide1.xml" Id="R97d9435c75ce47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01948187b4a3e" /><Relationship Type="http://schemas.openxmlformats.org/officeDocument/2006/relationships/notesSlide" Target="/ppt/notesSlides/notesSlide2.xml" Id="Rfd5266d5c105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7bd123f9c4b7d" /><Relationship Type="http://schemas.openxmlformats.org/officeDocument/2006/relationships/image" Target="/ppt/media/image.png" Id="R89eab8185f2b4232" /><Relationship Type="http://schemas.openxmlformats.org/officeDocument/2006/relationships/notesSlide" Target="/ppt/notesSlides/notesSlide3.xml" Id="Rc58198d0d090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a6725e9374087" /><Relationship Type="http://schemas.openxmlformats.org/officeDocument/2006/relationships/image" Target="/ppt/media/image2.png" Id="Rb41532759d8e4e2c" /><Relationship Type="http://schemas.openxmlformats.org/officeDocument/2006/relationships/notesSlide" Target="/ppt/notesSlides/notesSlide4.xml" Id="R2c7d74573744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05a3b85374a96" /><Relationship Type="http://schemas.openxmlformats.org/officeDocument/2006/relationships/image" Target="/ppt/media/image3.png" Id="R963ffac6ad2e4045" /><Relationship Type="http://schemas.openxmlformats.org/officeDocument/2006/relationships/notesSlide" Target="/ppt/notesSlides/notesSlide5.xml" Id="Rd977320ee3354f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99c6c773f4731" /><Relationship Type="http://schemas.openxmlformats.org/officeDocument/2006/relationships/notesSlide" Target="/ppt/notesSlides/notesSlide6.xml" Id="R42975e6757994e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3243ae30d4491" /><Relationship Type="http://schemas.openxmlformats.org/officeDocument/2006/relationships/image" Target="/ppt/media/image4.png" Id="R71aa423c74714b20" /><Relationship Type="http://schemas.openxmlformats.org/officeDocument/2006/relationships/notesSlide" Target="/ppt/notesSlides/notesSlide7.xml" Id="R35bad1cce2e9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54DC9-D794-4F9F-9F29-08C12F13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The AHTEG allocation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CFDE6-4B79-4CD9-A498-A6B74D8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plus weighted criteria for allocations to recipient Parties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BD6A0-80C1-4327-85A2-FB4D997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572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23A21-2F01-4B10-9668-CE7231E5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6E46F-D330-4C3C-97A2-305BB07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F1FA4-EBA4-4EF7-900B-3B3034C9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Starting pool divided equally</a:t>
            </a:r>
          </a:p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between recipient Parties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3DB3A-1B4E-434A-A4F9-3D04B2C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5B94D-BA43-4A4C-9638-5E0CE719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83343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D7AE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62998-4A64-4534-B4BD-B57C37F4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Weighted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57E50-F9FF-499C-B08C-1F2C1DA4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Remaining allocation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B42BF-E431-4BAA-9964-8B975AB7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  Biodiversity richness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117B9-5597-40B5-8E4B-FF009568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7381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   Geographic origin of genetic resources underlying DSI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1D597-02FF-490A-BBC8-5ACB9A73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C   Capacity needs for conservation and sustainable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4B76F-D993-4BE9-849F-F3C9FE0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91200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   Traditional knowledge and IP &amp; LC contributions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27A42-6147-48A2-9383-83FB4554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Country allocation = Equality Base + w₁Cₐ + w₂Cᵦ + w₃C꜀ + w₄Cᴅ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2DB45-C1CA-4D24-9676-3D42FE7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91450"/>
            <a:ext cx="1390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The GNI option adjusts the Equality Base for LDCs and SIDS. Criterion B remains a placeholder pending suitable data.</a:t>
            </a:r>
          </a:p>
        </p:txBody>
      </p:sp>
    </p:spTree>
    <p:extLst>
      <p:ext uri="{BB962C8B-B14F-4D97-AF65-F5344CB8AC3E}">
        <p14:creationId xmlns:p14="http://schemas.microsoft.com/office/powerpoint/2010/main" val="502281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3406A-4EC6-44F4-9C56-0EB6089E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0C859-BE3A-4E2E-B066-420F2378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2D930-2EBB-4D28-8286-1B75BC0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FC7B-A7D4-42BA-9073-57579FD0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4CDAA-F475-4C48-A953-7140865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47437-4159-4544-B749-4FC8D72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2CE8-FF80-496D-92AD-1BA1583E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A24FB-4EF3-4DF5-9EBB-CB02DB2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FF011-A1DA-4441-97FA-E229A4C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C0B5F-A53C-4A45-B229-11F0FB3D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B658B-04F1-40D9-8736-2803BDE1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3B63-8C04-4F9D-A1D5-3BDD88A7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E73A2-5DD3-4A49-9A69-81264484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F27D2-1440-4D7D-8098-5E8DE46B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1479B-5BDC-49BF-AFCA-887DC5C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B8BFC-8F49-4DE3-A211-47F15B0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DA244-A636-4356-87B1-92182CF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DEBEA-80B0-42AF-840C-281EE90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4288C-1BB8-4A5E-9DDF-E7DD7BBD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56D1A-FB12-4AB7-A0A7-2B49DBD4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B2E50-62BE-4BC4-AA61-2CEA54F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0257F-1292-4650-B901-783D95FB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A31EA-B01C-4E20-820E-10DD62FD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cut-offs create jumps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7E049-F38C-471E-BFC3-F302C49D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CA3C4A-6222-4322-86E6-4314B4C6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ratio are a policy choice.</a:t>
            </a:r>
          </a:p>
        </p:txBody>
      </p:sp>
    </p:spTree>
    <p:extLst>
      <p:ext uri="{BB962C8B-B14F-4D97-AF65-F5344CB8AC3E}">
        <p14:creationId xmlns:p14="http://schemas.microsoft.com/office/powerpoint/2010/main" val="1908427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AB608-0DDC-4AFD-BB8E-B4CD93142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ab8185f2b423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958C6-6AD4-4CF8-99B1-EAB029D93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532759d8e4e2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34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1D12-73D3-421E-8CD4-FBE368102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ffac6ad2e404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36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2C59A-D5C4-4F9C-8AFE-C7FE13CD70B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052512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EE0E3-A3D8-4195-92EC-C81F3A1970E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5287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43FFF-7AD9-4A20-BDDB-E7CFBDEFA3D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87125" y="40195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BD8E1-7352-40B6-9C56-399259A883A0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287125" y="25812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899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82704-E32A-4531-B7FE-A53D76F84CE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10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D3256-AE02-496B-B7F9-1535297D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Cali Fund allocation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2FB0F-40F5-46DF-B81B-7257487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and economic capacity, combined with biodiversity stewardship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503E1-A066-496D-AE34-DA2890D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806C5-9E6F-4F01-B8A0-9FEFB5C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6952-2B6C-402F-8DDD-89F2E04B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8749-76A6-4CAF-A28D-EE8E811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4BDA2-A48F-4CA9-A603-6E7A6970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61676-D909-40F5-9713-B6D96EF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80E32-2182-4338-8FF0-1BE4E9A4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54D3-2173-4FC8-B9AB-46DF1C3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83919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8FEDA-4A1F-480A-BF50-FC6D9BB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76E96-E3D6-46B8-A19C-BBD58459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A779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A0266-E50B-4B32-82A0-731AA05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B6F80-4628-4B3F-B623-B59C9FFA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82A9D-2BBA-48EE-87B7-57183858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91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0D8A1-FBE3-47E5-BF3F-E03A6BE9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62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E4FEE-5AF7-4035-8108-40DC56A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5219D-9F58-49E9-B90B-6D3D622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53225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2B7C2-4357-4C78-9ADD-7607FBA8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865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</p:spTree>
    <p:extLst>
      <p:ext uri="{BB962C8B-B14F-4D97-AF65-F5344CB8AC3E}">
        <p14:creationId xmlns:p14="http://schemas.microsoft.com/office/powerpoint/2010/main" val="136650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502DF-0AD0-4417-9018-56E75CAEF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a423c74714b2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0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2026-10-13T09:53:49.7960000Z</dcterms:created>
  <dcterms:modified xsi:type="dcterms:W3CDTF">2026-10-13T09:53:49.7960000Z</dcterms:modified>
</coreProperties>
</file>