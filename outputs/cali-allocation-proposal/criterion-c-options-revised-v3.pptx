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ec06e78afb4411" /><Relationship Type="http://schemas.openxmlformats.org/officeDocument/2006/relationships/extended-properties" Target="/docProps/app.xml" Id="Rc2efacd6589549e0" /><Relationship Type="http://schemas.openxmlformats.org/officeDocument/2006/relationships/officeDocument" Target="/ppt/presentation.xml" Id="Rd483769a3aa543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4f86e35ce74187"/>
  </p:sldMasterIdLst>
  <p:notesMasterIdLst>
    <p:notesMasterId xmlns:r="http://schemas.openxmlformats.org/officeDocument/2006/relationships" r:id="Rfcf934b9b4f447e8"/>
  </p:notesMasterIdLst>
  <p:sldIdLst>
    <p:sldId xmlns:r="http://schemas.openxmlformats.org/officeDocument/2006/relationships" id="256" r:id="Rf662ccb1b237499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99222daa0d41cd" /><Relationship Type="http://schemas.openxmlformats.org/officeDocument/2006/relationships/slideMaster" Target="/ppt/slideMasters/slideMaster1.xml" Id="R584f86e35ce74187" /><Relationship Type="http://schemas.openxmlformats.org/officeDocument/2006/relationships/notesMaster" Target="/ppt/notesMasters/notesMaster1.xml" Id="Rfcf934b9b4f447e8" /><Relationship Type="http://schemas.openxmlformats.org/officeDocument/2006/relationships/presProps" Target="/ppt/presProps.xml" Id="R3ef48b7a3abd4c63" /><Relationship Type="http://schemas.openxmlformats.org/officeDocument/2006/relationships/tableStyles" Target="/ppt/tableStyles.xml" Id="Rb2028d296db94812" /><Relationship Type="http://schemas.openxmlformats.org/officeDocument/2006/relationships/slide" Target="/ppt/slides/slide1.xml" Id="Rf662ccb1b23749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a426c957ad44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b71610b8be4cc0" /><Relationship Type="http://schemas.openxmlformats.org/officeDocument/2006/relationships/notesMaster" Target="/ppt/notesMasters/notesMaster1.xml" Id="Rc25306afcc4b41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 (12 October 2026):</a:t>
            </a:r>
          </a:p>
          <a:p xmlns:a="http://schemas.openxmlformats.org/drawingml/2006/main">
            <a:r>
              <a:t>UN Committee on Contributions, scale of assessments 2025–2027: https://www.un.org/en/ga/contributions/budget.shtml and https://www.un.org/ldcportal/node/933 . GNI is the starting point, with debt-burden and low-per-capita-income adjustments, minimum assessment and ceilings. The UN agreement concerns contributions, not adoption of IUSAF for Cali allocations.</a:t>
            </a:r>
          </a:p>
          <a:p xmlns:a="http://schemas.openxmlformats.org/drawingml/2006/main">
            <a:r>
              <a:t>World Bank, GNI per capita methodology and limitations: https://datahelpdesk.worldbank.org/knowledgebase/articles/378831-why-use-gni-per-capita-to-classify-economies-into and https://datahelpdesk.worldbank.org/knowledgebase/articles/378832-what-is-the-world-bank-atlas-method . GNI per capita does not describe within-country inequality. Atlas conversion smooths but does not eliminate exchange-rate effects. Data availability and reference-year choices require checking under either approach.</a:t>
            </a:r>
          </a:p>
          <a:p xmlns:a="http://schemas.openxmlformats.org/drawingml/2006/main">
            <a:r>
              <a:t>IUSAF banding and 3.75:1 ratio: user's paper and modelling files previously inspected in this task, https://papers.ssrn.com/sol3/papers.cfm?abstract_id=6809586 . IUSAF here means the banded version, not raw reciprocal UN assessments.</a:t>
            </a:r>
          </a:p>
          <a:p xmlns:a="http://schemas.openxmlformats.org/drawingml/2006/main">
            <a:r>
              <a:t>Analytical deductions: with equal treatment of Parties and normalized reciprocal weighting, inverse total GNI favours smaller economies whereas inverse per-capita GNI favours lower income per person. Raw reciprocal sensitivity and concentration depend on data spread. Continuous differentiation applies before introducing bands. Band thresholds and within-band equality are consequences of the banded model.</a:t>
            </a:r>
          </a:p>
          <a:p xmlns:a="http://schemas.openxmlformats.org/drawingml/2006/main">
            <a:r>
              <a:t>Fair comparison: distinguish the capacity indicator from the transformation. Either GNI or UN assessments can be banded, smoothed or given a chosen ratio range. Neither input directly measures biodiversity stewardship. Both require explicit treatment of missing data, allocation normalization, and integration with the Equality Base and other criteria. AHTEG report CBD/DSI/AHTEG/2026/2/3, Annex II paragraphs 4(c) and 5 (pages 10–11): https://www.cbd.int/doc/c/db87/84a9/9022dd04f7afc8880d009149/dsi-ahteg-2026-02-03-en.pdf . The report specifies per-capita GNI. The 25% uplift is relative to the base allocation, not 25 percentage points of the fund. Paragraph 28 discusses the weak biodiversity-specific connection of these proxies. Exact inversion and normalisation should be checked in the implementation before quantitative comparisons. No numerical ranking or claim of superiority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35accc57184a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0f8afe622641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c32366a784b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f9b4f869ca4a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5856f8b8b4e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3bc9ca7a1446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72BA61-6317-4C2F-AEDE-E754D12D1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01221B-C70F-4662-BB70-6FCC621C1F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1A46D4-906C-4DBB-8B8A-387D0E76F5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CD8378-A58F-481C-95D3-32541F688F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8BC52F-729E-490A-9B43-658C529469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C01303-F590-4B26-ADD8-132A8695D1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3F294A-EF38-4B21-B94C-C6683490D0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63F24B-DA3F-4BC3-B5B9-EAF93420A4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B13717-219E-4AD7-97F0-3F53ABEE04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9DE4C7-2497-45B7-B2AD-C45ABF431B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02b5d702a44d5d" /><Relationship Type="http://schemas.openxmlformats.org/officeDocument/2006/relationships/slideLayout" Target="/ppt/slideLayouts/slideLayout1.xml" Id="R4bd2a9bdd3f74d59" /><Relationship Type="http://schemas.openxmlformats.org/officeDocument/2006/relationships/slideLayout" Target="/ppt/slideLayouts/slideLayout2.xml" Id="Rc6d81690e6c7494f" /><Relationship Type="http://schemas.openxmlformats.org/officeDocument/2006/relationships/slideLayout" Target="/ppt/slideLayouts/slideLayout3.xml" Id="Rb4c7fc7d85da4dd7" /><Relationship Type="http://schemas.openxmlformats.org/officeDocument/2006/relationships/slideLayout" Target="/ppt/slideLayouts/slideLayout4.xml" Id="Rf439fb290f93441a" /><Relationship Type="http://schemas.openxmlformats.org/officeDocument/2006/relationships/slideLayout" Target="/ppt/slideLayouts/slideLayout5.xml" Id="R25a4dc1710bb42bd" /><Relationship Type="http://schemas.openxmlformats.org/officeDocument/2006/relationships/slideLayout" Target="/ppt/slideLayouts/slideLayout6.xml" Id="R4669e761274743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d2a9bdd3f74d59"/>
    <p:sldLayoutId xmlns:r="http://schemas.openxmlformats.org/officeDocument/2006/relationships" id="2147483650" r:id="Rc6d81690e6c7494f"/>
    <p:sldLayoutId xmlns:r="http://schemas.openxmlformats.org/officeDocument/2006/relationships" id="2147483651" r:id="Rb4c7fc7d85da4dd7"/>
    <p:sldLayoutId xmlns:r="http://schemas.openxmlformats.org/officeDocument/2006/relationships" id="2147483652" r:id="Rf439fb290f93441a"/>
    <p:sldLayoutId xmlns:r="http://schemas.openxmlformats.org/officeDocument/2006/relationships" id="2147483653" r:id="R25a4dc1710bb42bd"/>
    <p:sldLayoutId xmlns:r="http://schemas.openxmlformats.org/officeDocument/2006/relationships" id="2147483654" r:id="R4669e761274743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a8f96f4ff94864" /><Relationship Type="http://schemas.openxmlformats.org/officeDocument/2006/relationships/notesSlide" Target="/ppt/notesSlides/notesSlide1.xml" Id="Rf0a566c5997540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8E8B8D-2F4C-4155-9260-1DACEF42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Criterion C: inverted GNI per capita or IUSAF?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ED978-750E-4437-8C6B-A35CE0E1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Strengths and trade-offs of the two options in the AHTEG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6F746-30F9-40FE-A9DC-22DD6858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390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97821-4AD1-4472-B53E-B5B5AF70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3525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Both are economic proxies. Neither directly measures biodiversity capacity needs.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92BDF-D06B-45CF-A9AC-3267AFC6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Inverted GNI per capita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2C050-7EA6-4BA4-98F9-8EEA9112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Option 1: Equality Base uplift of 25% for LDCs and SIDS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AAB61-2970-4B11-A758-D11E128B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IUSAF (banded UN scale)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B0848-1BD3-4CC7-B53D-5219A7CC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Option 2: equal Equality Base, plus six capacity bands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E092D-7606-4C3A-A36E-B5247D09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190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1B60F-1FD6-40CD-BB99-2EDE1872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904E7-BE06-4880-BA68-EBB5494C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B257B-D1CA-40D9-ACED-189E2973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Direct link to average income per person.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222A1-42B3-45F2-AAC4-7DFDC169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052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Uses the agreed, GNI-based UN capacity-to-pay reference.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7A8B4-A73F-4DB6-8006-B7B342FF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Continuous scores can retain differences between countries.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B4EA2-8427-4ACE-A7A1-3AACEBB9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767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Incorporates debt and low per capita income adjustments.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A6A0C-258F-49B5-B43B-2385ED31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Avoids directly penalising countries for a larger population.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B3CF4-2E91-4997-8FCB-72989B45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482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Bands set an explicit ratio for the capacity component.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C92A8-8B8B-4012-9436-4D033ED6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LIMITATIONS / CHOICES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5DBC7B-A79F-4CBA-9D41-A437F44A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817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LIMITATIONS / CHOICES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7B182-0A6B-4523-86F5-287C649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AHTEG identified bias against LDCs/SIDS, prompting a 25% base uplift.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3958C7-3397-419B-B6B7-02008873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Input reflects economy size and UN contribution rules.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43306-16D8-4F8D-B0D9-0C57D1E2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05625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Results depend on inversion, normalisation and data choices.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564804-9F59-4892-9D0E-DBD8F6A7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9056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Bands create steps and equal scores within bands.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6401C3-BC70-4401-B35A-F11F52A5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GNI alone omits debt burdens and within-country inequality.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522598-06CA-4EA1-8D6E-637D9436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29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Weights and ratio are a policy choice.</a:t>
            </a:r>
          </a:p>
        </p:txBody>
      </p:sp>
    </p:spTree>
    <p:extLst>
      <p:ext uri="{BB962C8B-B14F-4D97-AF65-F5344CB8AC3E}">
        <p14:creationId xmlns:p14="http://schemas.microsoft.com/office/powerpoint/2010/main" val="1892442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2026-10-13T11:30:21.2150000Z</dcterms:created>
  <dcterms:modified xsi:type="dcterms:W3CDTF">2026-10-13T11:30:21.2150000Z</dcterms:modified>
</coreProperties>
</file>