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9" r:id="rId5"/>
    <p:sldId id="260" r:id="rId6"/>
    <p:sldId id="261" r:id="rId7"/>
    <p:sldId id="264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45"/>
    <p:restoredTop sz="66992"/>
  </p:normalViewPr>
  <p:slideViewPr>
    <p:cSldViewPr snapToGrid="0">
      <p:cViewPr varScale="1">
        <p:scale>
          <a:sx n="65" d="100"/>
          <a:sy n="65" d="100"/>
        </p:scale>
        <p:origin x="9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7020212-45B4-4FF6-9E5B-26614252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BA24688-7631-412B-B26F-4644E452A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284BA5D-B843-40A3-910E-CC1C912E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B0E324A-A563-49B7-A989-5FB6D38F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625F6D2-5F44-43CB-9098-6F545D5A1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A24D23F-603C-495E-98EE-5E6728E0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603F01-F386-4577-94A7-5AA620F1D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ABF29F7-CA4A-4976-9EEE-63974A999B4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39D41B-44CB-46A7-90C2-70457191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C6163B5-D1F8-4D8F-86D7-04A321FDF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F6231B-8124-4851-9DC2-D280E326FABB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13906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The AHTEG allocation </a:t>
            </a:r>
            <a:r>
              <a:rPr lang="en-GB" sz="3600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methodology (see 17/6 &amp; 17/6/Add.2) </a:t>
            </a:r>
            <a:endParaRPr sz="3600" b="1" dirty="0">
              <a:solidFill>
                <a:srgbClr val="19344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C46D44-FE25-4F79-93AE-B28A3ED8E88C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Equality Base plus weighted criteria for allocations to recipient Parties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AFFC3A-9548-45D7-9D97-729050C6B356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4572000" cy="4191000"/>
          </a:xfrm>
          <a:prstGeom prst="rect">
            <a:avLst/>
          </a:prstGeom>
          <a:solidFill>
            <a:srgbClr val="E8F4F5"/>
          </a:solidFill>
          <a:ln w="19050">
            <a:solidFill>
              <a:srgbClr val="147D9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AE157E-39A8-4673-A456-6DDE8FAC4883}"/>
              </a:ext>
            </a:extLst>
          </p:cNvPr>
          <p:cNvSpPr>
            <a:spLocks noGrp="1"/>
          </p:cNvSpPr>
          <p:nvPr/>
        </p:nvSpPr>
        <p:spPr>
          <a:xfrm>
            <a:off x="904875" y="2619375"/>
            <a:ext cx="4095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849B28-F240-4161-8AD6-7E9E29C74B9C}"/>
              </a:ext>
            </a:extLst>
          </p:cNvPr>
          <p:cNvSpPr>
            <a:spLocks noGrp="1"/>
          </p:cNvSpPr>
          <p:nvPr/>
        </p:nvSpPr>
        <p:spPr>
          <a:xfrm>
            <a:off x="904875" y="3476625"/>
            <a:ext cx="4095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50%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D1A419-6C2D-461E-AB75-290E35391FDB}"/>
              </a:ext>
            </a:extLst>
          </p:cNvPr>
          <p:cNvSpPr>
            <a:spLocks noGrp="1"/>
          </p:cNvSpPr>
          <p:nvPr/>
        </p:nvSpPr>
        <p:spPr>
          <a:xfrm>
            <a:off x="952500" y="4572000"/>
            <a:ext cx="4000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Starting pool divided equally</a:t>
            </a:r>
          </a:p>
          <a:p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between recipient Parties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9F3F90-8F8F-434F-ABA5-F390511E2D27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666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8C8EF-7CF5-44A2-A1FE-CDEE80078091}"/>
              </a:ext>
            </a:extLst>
          </p:cNvPr>
          <p:cNvSpPr>
            <a:spLocks noGrp="1"/>
          </p:cNvSpPr>
          <p:nvPr/>
        </p:nvSpPr>
        <p:spPr>
          <a:xfrm>
            <a:off x="6238875" y="2190750"/>
            <a:ext cx="8334375" cy="4191000"/>
          </a:xfrm>
          <a:prstGeom prst="rect">
            <a:avLst/>
          </a:prstGeom>
          <a:solidFill>
            <a:srgbClr val="FBF4E6"/>
          </a:solidFill>
          <a:ln w="19050">
            <a:solidFill>
              <a:srgbClr val="D7AE6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9F5315-6888-4305-B7FD-A3936E023F62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7858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Weighted criteria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90D634-ED49-4428-9850-52F54B1DA456}"/>
              </a:ext>
            </a:extLst>
          </p:cNvPr>
          <p:cNvSpPr>
            <a:spLocks noGrp="1"/>
          </p:cNvSpPr>
          <p:nvPr/>
        </p:nvSpPr>
        <p:spPr>
          <a:xfrm>
            <a:off x="6477000" y="3162300"/>
            <a:ext cx="7858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Remaining allocation pool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6BA9E0-2722-4D20-85E1-0B15C7D4DC76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7381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1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  Biodiversity richness</a:t>
            </a:r>
            <a:r>
              <a:rPr lang="en-GB" sz="2175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 (IUCN/GEF STAR indexes)</a:t>
            </a:r>
            <a:endParaRPr sz="2175" b="1" dirty="0">
              <a:solidFill>
                <a:srgbClr val="19344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27066-7010-42A5-8197-D1A5871513A9}"/>
              </a:ext>
            </a:extLst>
          </p:cNvPr>
          <p:cNvSpPr>
            <a:spLocks noGrp="1"/>
          </p:cNvSpPr>
          <p:nvPr/>
        </p:nvSpPr>
        <p:spPr>
          <a:xfrm>
            <a:off x="6667500" y="4457700"/>
            <a:ext cx="738187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   Geographic origin of DSI</a:t>
            </a:r>
            <a:r>
              <a:rPr lang="en-GB" sz="1950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 (DSI Scientific Network)</a:t>
            </a:r>
            <a:endParaRPr sz="1950" b="1" dirty="0">
              <a:solidFill>
                <a:srgbClr val="19344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46E0F-1622-4F59-9B31-5E8635ACFB2E}"/>
              </a:ext>
            </a:extLst>
          </p:cNvPr>
          <p:cNvSpPr>
            <a:spLocks noGrp="1"/>
          </p:cNvSpPr>
          <p:nvPr/>
        </p:nvSpPr>
        <p:spPr>
          <a:xfrm>
            <a:off x="6667500" y="5191125"/>
            <a:ext cx="7381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C   Capacity needs for conservation and sustainable 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FFD8DE-8358-450E-9E47-CC826DF4E681}"/>
              </a:ext>
            </a:extLst>
          </p:cNvPr>
          <p:cNvSpPr>
            <a:spLocks noGrp="1"/>
          </p:cNvSpPr>
          <p:nvPr/>
        </p:nvSpPr>
        <p:spPr>
          <a:xfrm>
            <a:off x="6667500" y="5791200"/>
            <a:ext cx="7381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9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   Traditional knowledge and IP &amp; LC </a:t>
            </a:r>
            <a:r>
              <a:rPr lang="en-GB" sz="1950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Indicators</a:t>
            </a:r>
            <a:endParaRPr sz="1950" b="1" dirty="0">
              <a:solidFill>
                <a:srgbClr val="19344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D1242E-9077-4468-B186-0A98CA1455B9}"/>
              </a:ext>
            </a:extLst>
          </p:cNvPr>
          <p:cNvSpPr>
            <a:spLocks noGrp="1"/>
          </p:cNvSpPr>
          <p:nvPr/>
        </p:nvSpPr>
        <p:spPr>
          <a:xfrm>
            <a:off x="666750" y="6905625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Country allocation = Equality Base + w1·CA + w2·CB + w3·CC + w4·CD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D7AB49-6208-463F-864B-AA1297D35895}"/>
              </a:ext>
            </a:extLst>
          </p:cNvPr>
          <p:cNvSpPr>
            <a:spLocks noGrp="1"/>
          </p:cNvSpPr>
          <p:nvPr/>
        </p:nvSpPr>
        <p:spPr>
          <a:xfrm>
            <a:off x="666750" y="7791450"/>
            <a:ext cx="13906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1725" b="0" dirty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Criterion C is either inverted GNI or Inverted UN Scale of Assessments. </a:t>
            </a:r>
            <a:r>
              <a:rPr sz="1725" b="0" dirty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Criterion B remains a placeholder pending suitable data.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1B3D32-1D70-656D-474A-A919B700302B}"/>
              </a:ext>
            </a:extLst>
          </p:cNvPr>
          <p:cNvSpPr txBox="1"/>
          <p:nvPr/>
        </p:nvSpPr>
        <p:spPr>
          <a:xfrm>
            <a:off x="9130748" y="6891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825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6ECA68C-5DAB-430C-A5AB-4FBBB1D8F7EE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3906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Criterion C: inverted GNI per capita or IUSAF?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7606A9-1816-4817-9D9B-1832441FA9FA}"/>
              </a:ext>
            </a:extLst>
          </p:cNvPr>
          <p:cNvSpPr>
            <a:spLocks noGrp="1"/>
          </p:cNvSpPr>
          <p:nvPr/>
        </p:nvSpPr>
        <p:spPr>
          <a:xfrm>
            <a:off x="666750" y="1047750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Strengths and trade-offs of the two options in the AHTEG 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CE0B39-9FE1-44A7-818F-E633269B5B61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3906500" cy="619125"/>
          </a:xfrm>
          <a:prstGeom prst="rect">
            <a:avLst/>
          </a:prstGeom>
          <a:solidFill>
            <a:srgbClr val="F1F5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019085-2F4D-4F79-9A37-EAAD91D8CC66}"/>
              </a:ext>
            </a:extLst>
          </p:cNvPr>
          <p:cNvSpPr>
            <a:spLocks noGrp="1"/>
          </p:cNvSpPr>
          <p:nvPr/>
        </p:nvSpPr>
        <p:spPr>
          <a:xfrm>
            <a:off x="857250" y="1743075"/>
            <a:ext cx="13525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Both are economic proxies. </a:t>
            </a:r>
            <a:r>
              <a:rPr lang="en-GB" sz="1725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They do not</a:t>
            </a:r>
            <a:r>
              <a:rPr sz="1725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 directly measure biodiversity capacity needs</a:t>
            </a:r>
            <a:r>
              <a:rPr lang="en-GB" sz="1725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 (no known measure for that)</a:t>
            </a:r>
            <a:r>
              <a:rPr sz="1725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DDBB5B-974A-4A9A-A401-F321A76816A0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Inverted GNI per capita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60ACE4-03AF-43DF-BF83-C1BD403D1072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6572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1: Equality Base uplift of 25% for LDCs and SIDS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EED78-AAB9-4D49-80EC-7F9792005706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6477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IUSAF (banded UN scale)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F3736E-6FE2-46C2-9C0F-6A8B4B2AEB14}"/>
              </a:ext>
            </a:extLst>
          </p:cNvPr>
          <p:cNvSpPr>
            <a:spLocks noGrp="1"/>
          </p:cNvSpPr>
          <p:nvPr/>
        </p:nvSpPr>
        <p:spPr>
          <a:xfrm>
            <a:off x="8096250" y="3048000"/>
            <a:ext cx="6477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2: equal Equality Base, plus six capacity bands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8C2FFF-57BC-4BCD-BEC7-F9C3915F9759}"/>
              </a:ext>
            </a:extLst>
          </p:cNvPr>
          <p:cNvSpPr>
            <a:spLocks noGrp="1"/>
          </p:cNvSpPr>
          <p:nvPr/>
        </p:nvSpPr>
        <p:spPr>
          <a:xfrm>
            <a:off x="7600950" y="2571750"/>
            <a:ext cx="19050" cy="466725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B7B112-665B-482B-9D1E-A0B7E6798D8D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6572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39EDC1-2FB7-470E-B89A-3A91C431AF39}"/>
              </a:ext>
            </a:extLst>
          </p:cNvPr>
          <p:cNvSpPr>
            <a:spLocks noGrp="1"/>
          </p:cNvSpPr>
          <p:nvPr/>
        </p:nvSpPr>
        <p:spPr>
          <a:xfrm>
            <a:off x="8096250" y="369570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89547D-39FF-4F97-A4C2-2BC531BBEE98}"/>
              </a:ext>
            </a:extLst>
          </p:cNvPr>
          <p:cNvSpPr>
            <a:spLocks noGrp="1"/>
          </p:cNvSpPr>
          <p:nvPr/>
        </p:nvSpPr>
        <p:spPr>
          <a:xfrm>
            <a:off x="666750" y="4105275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Direct link to average income per person.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E31A28-26BA-4B51-B5B5-04B19DFBCF41}"/>
              </a:ext>
            </a:extLst>
          </p:cNvPr>
          <p:cNvSpPr>
            <a:spLocks noGrp="1"/>
          </p:cNvSpPr>
          <p:nvPr/>
        </p:nvSpPr>
        <p:spPr>
          <a:xfrm>
            <a:off x="8096250" y="4105275"/>
            <a:ext cx="6477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Uses the agreed, GNI-based UN capacity-to-pay reference.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9976A1-CD1A-42E0-9AA3-2580EAD033AF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1875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Weight</a:t>
            </a:r>
            <a:r>
              <a:rPr lang="en-GB" sz="1875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 is fine grained per</a:t>
            </a:r>
            <a:r>
              <a:rPr sz="1875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75" b="0" dirty="0" err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countr</a:t>
            </a:r>
            <a:r>
              <a:rPr lang="en-GB" sz="1875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y</a:t>
            </a:r>
            <a:r>
              <a:rPr sz="1875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7C0995-93A5-41AD-B5F8-C7F594FC6EF6}"/>
              </a:ext>
            </a:extLst>
          </p:cNvPr>
          <p:cNvSpPr>
            <a:spLocks noGrp="1"/>
          </p:cNvSpPr>
          <p:nvPr/>
        </p:nvSpPr>
        <p:spPr>
          <a:xfrm>
            <a:off x="8096250" y="4676775"/>
            <a:ext cx="6477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Incorporates debt and low per capita income adjustments.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DF088E-5668-44AF-9445-79039CFB9DEA}"/>
              </a:ext>
            </a:extLst>
          </p:cNvPr>
          <p:cNvSpPr>
            <a:spLocks noGrp="1"/>
          </p:cNvSpPr>
          <p:nvPr/>
        </p:nvSpPr>
        <p:spPr>
          <a:xfrm>
            <a:off x="666750" y="5248275"/>
            <a:ext cx="6572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Avoids directly penalising countries for a larger population.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853E6C-A5F2-4E6F-9799-AC1D6C4FD2D5}"/>
              </a:ext>
            </a:extLst>
          </p:cNvPr>
          <p:cNvSpPr>
            <a:spLocks noGrp="1"/>
          </p:cNvSpPr>
          <p:nvPr/>
        </p:nvSpPr>
        <p:spPr>
          <a:xfrm>
            <a:off x="8096250" y="5248275"/>
            <a:ext cx="6477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set an explicit ratio for the capacity component.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4790F4-9F64-4921-97D6-C57A876231FA}"/>
              </a:ext>
            </a:extLst>
          </p:cNvPr>
          <p:cNvSpPr>
            <a:spLocks noGrp="1"/>
          </p:cNvSpPr>
          <p:nvPr/>
        </p:nvSpPr>
        <p:spPr>
          <a:xfrm>
            <a:off x="666750" y="5981700"/>
            <a:ext cx="6572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14137C-70D2-4E4A-BC6C-D70EFB9FE8F6}"/>
              </a:ext>
            </a:extLst>
          </p:cNvPr>
          <p:cNvSpPr>
            <a:spLocks noGrp="1"/>
          </p:cNvSpPr>
          <p:nvPr/>
        </p:nvSpPr>
        <p:spPr>
          <a:xfrm>
            <a:off x="8096250" y="598170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D3E73B-8CE2-4E2A-9462-7FC097DBC9D6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6572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AHTEG identified bias against LDCs/SIDS, prompting a 25% base uplift.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4A5BA1-9847-42D2-A111-A4993AFEE188}"/>
              </a:ext>
            </a:extLst>
          </p:cNvPr>
          <p:cNvSpPr>
            <a:spLocks noGrp="1"/>
          </p:cNvSpPr>
          <p:nvPr/>
        </p:nvSpPr>
        <p:spPr>
          <a:xfrm>
            <a:off x="8096250" y="6381750"/>
            <a:ext cx="647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Input still reflects economy size and UN contribution rules.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758FA6-33B7-4FB4-9E30-D2852818B40E}"/>
              </a:ext>
            </a:extLst>
          </p:cNvPr>
          <p:cNvSpPr>
            <a:spLocks noGrp="1"/>
          </p:cNvSpPr>
          <p:nvPr/>
        </p:nvSpPr>
        <p:spPr>
          <a:xfrm>
            <a:off x="666750" y="6905625"/>
            <a:ext cx="6572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Results depend on inversion, normalisation and data choices.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9C73CF-1193-47F0-981E-9D66B9CBFFF2}"/>
              </a:ext>
            </a:extLst>
          </p:cNvPr>
          <p:cNvSpPr>
            <a:spLocks noGrp="1"/>
          </p:cNvSpPr>
          <p:nvPr/>
        </p:nvSpPr>
        <p:spPr>
          <a:xfrm>
            <a:off x="8096250" y="6905625"/>
            <a:ext cx="647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 cut-offs create jumps and equal scores within bands.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73D102-DD67-4AA3-B62F-DA00C798AFA9}"/>
              </a:ext>
            </a:extLst>
          </p:cNvPr>
          <p:cNvSpPr>
            <a:spLocks noGrp="1"/>
          </p:cNvSpPr>
          <p:nvPr/>
        </p:nvSpPr>
        <p:spPr>
          <a:xfrm>
            <a:off x="666750" y="7429500"/>
            <a:ext cx="6572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GNI alone omits debt burdens and within-country inequality.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FDCCB9-565D-495A-A24C-10290C004E1A}"/>
              </a:ext>
            </a:extLst>
          </p:cNvPr>
          <p:cNvSpPr>
            <a:spLocks noGrp="1"/>
          </p:cNvSpPr>
          <p:nvPr/>
        </p:nvSpPr>
        <p:spPr>
          <a:xfrm>
            <a:off x="8096250" y="7429500"/>
            <a:ext cx="647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Weights and ratio are a policy choice.</a:t>
            </a:r>
          </a:p>
        </p:txBody>
      </p:sp>
    </p:spTree>
    <p:extLst>
      <p:ext uri="{BB962C8B-B14F-4D97-AF65-F5344CB8AC3E}">
        <p14:creationId xmlns:p14="http://schemas.microsoft.com/office/powerpoint/2010/main" val="1816320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F3A4DB-27D2-4B48-B75C-9DB9587F4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6363D5-5891-4216-8360-19427DE9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81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90BAE6-2D54-4CF2-8728-C6D6D7CA7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6A3A8DCF-E3DB-79FC-C7AF-E0BED2486237}"/>
              </a:ext>
            </a:extLst>
          </p:cNvPr>
          <p:cNvSpPr/>
          <p:nvPr/>
        </p:nvSpPr>
        <p:spPr>
          <a:xfrm>
            <a:off x="71021" y="5060272"/>
            <a:ext cx="603681" cy="4527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3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B2CEA971-7E83-4CF8-B061-0665CC22C06F}"/>
              </a:ext>
            </a:extLst>
          </p:cNvPr>
          <p:cNvCxnSpPr>
            <a:stCxn id="16" idx="2"/>
            <a:endCxn id="21" idx="3"/>
          </p:cNvCxnSpPr>
          <p:nvPr/>
        </p:nvCxnSpPr>
        <p:spPr>
          <a:xfrm flipH="1">
            <a:off x="10525125" y="5867400"/>
            <a:ext cx="762000" cy="1238250"/>
          </a:xfrm>
          <a:prstGeom prst="bentConnector5">
            <a:avLst>
              <a:gd name="adj1" fmla="val 0"/>
              <a:gd name="adj2" fmla="val 18462"/>
              <a:gd name="adj3" fmla="val 70000"/>
            </a:avLst>
          </a:prstGeom>
          <a:ln w="28575">
            <a:solidFill>
              <a:srgbClr val="A77923"/>
            </a:solidFill>
            <a:tailEnd type="triangle" w="med" len="med"/>
          </a:ln>
        </p:spPr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E1E6DF3D-B452-45FF-B821-33AC7998152A}"/>
              </a:ext>
            </a:extLst>
          </p:cNvPr>
          <p:cNvCxnSpPr>
            <a:stCxn id="7" idx="2"/>
            <a:endCxn id="21" idx="1"/>
          </p:cNvCxnSpPr>
          <p:nvPr/>
        </p:nvCxnSpPr>
        <p:spPr>
          <a:xfrm>
            <a:off x="3952875" y="5867400"/>
            <a:ext cx="762000" cy="1238250"/>
          </a:xfrm>
          <a:prstGeom prst="bentConnector5">
            <a:avLst>
              <a:gd name="adj1" fmla="val 0"/>
              <a:gd name="adj2" fmla="val 18462"/>
              <a:gd name="adj3" fmla="val 70000"/>
            </a:avLst>
          </a:prstGeom>
          <a:ln w="28575">
            <a:solidFill>
              <a:srgbClr val="147D92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31E765-895E-4D20-964D-0CE9FE7A4BDD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>
            <a:off x="11287125" y="4019550"/>
            <a:ext cx="0" cy="647700"/>
          </a:xfrm>
          <a:prstGeom prst="straightConnector1">
            <a:avLst/>
          </a:prstGeom>
          <a:ln w="28575">
            <a:solidFill>
              <a:srgbClr val="A77923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D8485D-FD62-4A61-8246-E38593AC4031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11287125" y="2581275"/>
            <a:ext cx="0" cy="561975"/>
          </a:xfrm>
          <a:prstGeom prst="straightConnector1">
            <a:avLst/>
          </a:prstGeom>
          <a:ln w="28575">
            <a:solidFill>
              <a:srgbClr val="788994"/>
            </a:solidFill>
            <a:tailEnd type="triangle" w="med" len="med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E8E0F1-7772-4DD5-A137-150B8E0BC466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3952875" y="3810000"/>
            <a:ext cx="0" cy="857250"/>
          </a:xfrm>
          <a:prstGeom prst="straightConnector1">
            <a:avLst/>
          </a:prstGeom>
          <a:ln w="28575">
            <a:solidFill>
              <a:srgbClr val="147D92"/>
            </a:solidFill>
            <a:tailEnd type="triangle" w="med" len="med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811D53C-51DA-4E1B-ACEE-528BD0310F18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1390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3675" b="1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possible approach to allocation methodology</a:t>
            </a:r>
            <a:endParaRPr sz="3675" b="1" dirty="0">
              <a:solidFill>
                <a:srgbClr val="19344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F509C4-3B43-4B66-8C16-5DB52F308F34}"/>
              </a:ext>
            </a:extLst>
          </p:cNvPr>
          <p:cNvSpPr>
            <a:spLocks noGrp="1"/>
          </p:cNvSpPr>
          <p:nvPr/>
        </p:nvSpPr>
        <p:spPr>
          <a:xfrm>
            <a:off x="666750" y="1114425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2025" b="0" dirty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As the interim approach use economic capacity, then add Biodiversity Stewardship Index after IPBES Assessment</a:t>
            </a:r>
            <a:endParaRPr sz="2025" b="0" dirty="0">
              <a:solidFill>
                <a:srgbClr val="52677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3F369-FCC1-4A1C-8DE4-AF018537DAFB}"/>
              </a:ext>
            </a:extLst>
          </p:cNvPr>
          <p:cNvSpPr>
            <a:spLocks noGrp="1"/>
          </p:cNvSpPr>
          <p:nvPr/>
        </p:nvSpPr>
        <p:spPr>
          <a:xfrm>
            <a:off x="809625" y="194310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AND ECONOMIC CAPACITY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ECFFE-F888-4D0E-ACAF-34CEF218E5FF}"/>
              </a:ext>
            </a:extLst>
          </p:cNvPr>
          <p:cNvSpPr>
            <a:spLocks noGrp="1"/>
          </p:cNvSpPr>
          <p:nvPr/>
        </p:nvSpPr>
        <p:spPr>
          <a:xfrm>
            <a:off x="809625" y="2667000"/>
            <a:ext cx="6286500" cy="1143000"/>
          </a:xfrm>
          <a:prstGeom prst="rect">
            <a:avLst/>
          </a:prstGeom>
          <a:solidFill>
            <a:srgbClr val="E8F4F5"/>
          </a:solidFill>
          <a:ln w="19050">
            <a:solidFill>
              <a:srgbClr val="147D9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BDD60-7517-4020-B586-7E5FAC7B10DD}"/>
              </a:ext>
            </a:extLst>
          </p:cNvPr>
          <p:cNvSpPr>
            <a:spLocks noGrp="1"/>
          </p:cNvSpPr>
          <p:nvPr/>
        </p:nvSpPr>
        <p:spPr>
          <a:xfrm>
            <a:off x="1047750" y="2838450"/>
            <a:ext cx="581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  +  Criterion 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7B1675-8299-4105-B4B6-9C2470BD2D3C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Equal share between Parties + economic capacity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80C9D-A26D-446B-9B0F-3474AFDE848A}"/>
              </a:ext>
            </a:extLst>
          </p:cNvPr>
          <p:cNvSpPr>
            <a:spLocks noGrp="1"/>
          </p:cNvSpPr>
          <p:nvPr/>
        </p:nvSpPr>
        <p:spPr>
          <a:xfrm>
            <a:off x="809625" y="4667250"/>
            <a:ext cx="6286500" cy="1200150"/>
          </a:xfrm>
          <a:prstGeom prst="rect">
            <a:avLst/>
          </a:prstGeom>
          <a:solidFill>
            <a:srgbClr val="147D9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D3BA58-6206-415B-AC98-1FD54F69FDD6}"/>
              </a:ext>
            </a:extLst>
          </p:cNvPr>
          <p:cNvSpPr>
            <a:spLocks noGrp="1"/>
          </p:cNvSpPr>
          <p:nvPr/>
        </p:nvSpPr>
        <p:spPr>
          <a:xfrm>
            <a:off x="1047750" y="4810125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IUSAF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81B0F-4A04-4C72-AC7E-E5ECBAA7B641}"/>
              </a:ext>
            </a:extLst>
          </p:cNvPr>
          <p:cNvSpPr>
            <a:spLocks noGrp="1"/>
          </p:cNvSpPr>
          <p:nvPr/>
        </p:nvSpPr>
        <p:spPr>
          <a:xfrm>
            <a:off x="1047750" y="5286375"/>
            <a:ext cx="5810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Inverted UN Scale of Assessments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FF042E-8C8E-40A6-BEEC-215EA696C7E3}"/>
              </a:ext>
            </a:extLst>
          </p:cNvPr>
          <p:cNvSpPr>
            <a:spLocks noGrp="1"/>
          </p:cNvSpPr>
          <p:nvPr/>
        </p:nvSpPr>
        <p:spPr>
          <a:xfrm>
            <a:off x="8667750" y="1857375"/>
            <a:ext cx="5238750" cy="723900"/>
          </a:xfrm>
          <a:prstGeom prst="rect">
            <a:avLst/>
          </a:prstGeom>
          <a:solidFill>
            <a:srgbClr val="EEF1F3"/>
          </a:solidFill>
          <a:ln w="19050">
            <a:solidFill>
              <a:srgbClr val="83919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BD13CA-224A-44FD-8982-24554209016D}"/>
              </a:ext>
            </a:extLst>
          </p:cNvPr>
          <p:cNvSpPr>
            <a:spLocks noGrp="1"/>
          </p:cNvSpPr>
          <p:nvPr/>
        </p:nvSpPr>
        <p:spPr>
          <a:xfrm>
            <a:off x="8858250" y="2028825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IPBES Rapid Assessment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57AC41-F3B2-4114-A472-B46AB34926D5}"/>
              </a:ext>
            </a:extLst>
          </p:cNvPr>
          <p:cNvSpPr>
            <a:spLocks noGrp="1"/>
          </p:cNvSpPr>
          <p:nvPr/>
        </p:nvSpPr>
        <p:spPr>
          <a:xfrm>
            <a:off x="8143875" y="3143250"/>
            <a:ext cx="6286500" cy="876300"/>
          </a:xfrm>
          <a:prstGeom prst="rect">
            <a:avLst/>
          </a:prstGeom>
          <a:solidFill>
            <a:srgbClr val="FBF4E6"/>
          </a:solidFill>
          <a:ln w="19050">
            <a:solidFill>
              <a:srgbClr val="A7792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38F0D3-8E34-473F-860C-61CC9C515460}"/>
              </a:ext>
            </a:extLst>
          </p:cNvPr>
          <p:cNvSpPr>
            <a:spLocks noGrp="1"/>
          </p:cNvSpPr>
          <p:nvPr/>
        </p:nvSpPr>
        <p:spPr>
          <a:xfrm>
            <a:off x="8334375" y="3324225"/>
            <a:ext cx="59055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A: Species   B: DSI   D: Traditional knowledge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7CF737-AAD2-4C19-B1E5-2217A4E5D14C}"/>
              </a:ext>
            </a:extLst>
          </p:cNvPr>
          <p:cNvSpPr>
            <a:spLocks noGrp="1"/>
          </p:cNvSpPr>
          <p:nvPr/>
        </p:nvSpPr>
        <p:spPr>
          <a:xfrm>
            <a:off x="8143875" y="4667250"/>
            <a:ext cx="6286500" cy="1200150"/>
          </a:xfrm>
          <a:prstGeom prst="rect">
            <a:avLst/>
          </a:prstGeom>
          <a:solidFill>
            <a:srgbClr val="D7AE6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778C5A-065B-42E4-BC23-92B68558A9A0}"/>
              </a:ext>
            </a:extLst>
          </p:cNvPr>
          <p:cNvSpPr>
            <a:spLocks noGrp="1"/>
          </p:cNvSpPr>
          <p:nvPr/>
        </p:nvSpPr>
        <p:spPr>
          <a:xfrm>
            <a:off x="8334375" y="4791075"/>
            <a:ext cx="5905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Biodiversity Stewardship Index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0B41C8-D379-4663-93B0-76758A4CFE5D}"/>
              </a:ext>
            </a:extLst>
          </p:cNvPr>
          <p:cNvSpPr>
            <a:spLocks noGrp="1"/>
          </p:cNvSpPr>
          <p:nvPr/>
        </p:nvSpPr>
        <p:spPr>
          <a:xfrm>
            <a:off x="8382000" y="5362575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Combines criteria A, B and 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CC8571-D305-423C-A93E-142B1C4ED9EC}"/>
              </a:ext>
            </a:extLst>
          </p:cNvPr>
          <p:cNvSpPr>
            <a:spLocks noGrp="1"/>
          </p:cNvSpPr>
          <p:nvPr/>
        </p:nvSpPr>
        <p:spPr>
          <a:xfrm>
            <a:off x="7219950" y="4962525"/>
            <a:ext cx="8001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98D4C4-D042-4EEA-9DB5-3C86B677C1CA}"/>
              </a:ext>
            </a:extLst>
          </p:cNvPr>
          <p:cNvSpPr>
            <a:spLocks noGrp="1"/>
          </p:cNvSpPr>
          <p:nvPr/>
        </p:nvSpPr>
        <p:spPr>
          <a:xfrm>
            <a:off x="4714875" y="6753225"/>
            <a:ext cx="5810250" cy="704850"/>
          </a:xfrm>
          <a:prstGeom prst="rect">
            <a:avLst/>
          </a:prstGeom>
          <a:solidFill>
            <a:srgbClr val="F1F5F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FA3159-485F-4BC8-B7D2-2471C2D0C3C6}"/>
              </a:ext>
            </a:extLst>
          </p:cNvPr>
          <p:cNvSpPr>
            <a:spLocks noGrp="1"/>
          </p:cNvSpPr>
          <p:nvPr/>
        </p:nvSpPr>
        <p:spPr>
          <a:xfrm>
            <a:off x="4905375" y="6886575"/>
            <a:ext cx="5429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Combined allocation</a:t>
            </a:r>
          </a:p>
        </p:txBody>
      </p:sp>
    </p:spTree>
    <p:extLst>
      <p:ext uri="{BB962C8B-B14F-4D97-AF65-F5344CB8AC3E}">
        <p14:creationId xmlns:p14="http://schemas.microsoft.com/office/powerpoint/2010/main" val="556093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84C217D-509C-4CB5-9084-8D495535D5E0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13906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Issues for Consideration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FC85C7-1902-43D4-AE04-8695B062B2B7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809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F282BC-A04E-4C09-8515-F0792FD06250}"/>
              </a:ext>
            </a:extLst>
          </p:cNvPr>
          <p:cNvSpPr>
            <a:spLocks noGrp="1"/>
          </p:cNvSpPr>
          <p:nvPr/>
        </p:nvSpPr>
        <p:spPr>
          <a:xfrm>
            <a:off x="1762125" y="1762125"/>
            <a:ext cx="12811125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Should Parties accept the IUCN/GEF STAR index weightings (GEF8/GEF9)?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87A48-C87D-4D26-80D7-B9814DDB3881}"/>
              </a:ext>
            </a:extLst>
          </p:cNvPr>
          <p:cNvSpPr>
            <a:spLocks noGrp="1"/>
          </p:cNvSpPr>
          <p:nvPr/>
        </p:nvSpPr>
        <p:spPr>
          <a:xfrm>
            <a:off x="1762125" y="2828925"/>
            <a:ext cx="12811125" cy="9525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0B5624-04B2-444B-9FD3-DBC7D76EBEDB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809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AE6466-3C14-463B-9E90-FB0B8C934A71}"/>
              </a:ext>
            </a:extLst>
          </p:cNvPr>
          <p:cNvSpPr>
            <a:spLocks noGrp="1"/>
          </p:cNvSpPr>
          <p:nvPr/>
        </p:nvSpPr>
        <p:spPr>
          <a:xfrm>
            <a:off x="1762125" y="3000375"/>
            <a:ext cx="12811125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Where is </a:t>
            </a:r>
            <a:r>
              <a:rPr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the allocation for indigenous peoples and local communities</a:t>
            </a:r>
            <a:r>
              <a:rPr lang="en-GB"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, including in developed countries</a:t>
            </a:r>
            <a:r>
              <a:rPr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F0820A-19C9-4BF2-B4EC-263A9BBD7FA6}"/>
              </a:ext>
            </a:extLst>
          </p:cNvPr>
          <p:cNvSpPr>
            <a:spLocks noGrp="1"/>
          </p:cNvSpPr>
          <p:nvPr/>
        </p:nvSpPr>
        <p:spPr>
          <a:xfrm>
            <a:off x="1762125" y="4067175"/>
            <a:ext cx="12811125" cy="9525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0DEE7-865A-480D-8AE6-0410728989D3}"/>
              </a:ext>
            </a:extLst>
          </p:cNvPr>
          <p:cNvSpPr>
            <a:spLocks noGrp="1"/>
          </p:cNvSpPr>
          <p:nvPr/>
        </p:nvSpPr>
        <p:spPr>
          <a:xfrm>
            <a:off x="666750" y="4238625"/>
            <a:ext cx="809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7EFAE3-B26F-48E4-9D7B-33487782E61A}"/>
              </a:ext>
            </a:extLst>
          </p:cNvPr>
          <p:cNvSpPr>
            <a:spLocks noGrp="1"/>
          </p:cNvSpPr>
          <p:nvPr/>
        </p:nvSpPr>
        <p:spPr>
          <a:xfrm>
            <a:off x="1762125" y="4238625"/>
            <a:ext cx="12811125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What would the time frame and cost be for an IPBES Rapid Assessment</a:t>
            </a:r>
            <a:r>
              <a:rPr lang="en-GB"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 towards creating a Party controlled Biodiversity Stewardship Index</a:t>
            </a:r>
            <a:r>
              <a:rPr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821895-16C4-4DAA-8428-529078C22312}"/>
              </a:ext>
            </a:extLst>
          </p:cNvPr>
          <p:cNvSpPr>
            <a:spLocks noGrp="1"/>
          </p:cNvSpPr>
          <p:nvPr/>
        </p:nvSpPr>
        <p:spPr>
          <a:xfrm>
            <a:off x="1762125" y="5305425"/>
            <a:ext cx="12811125" cy="9525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D4A03-C426-4DE9-B924-84C3368AA626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809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97A0B-696B-4ECD-8FD2-905E3D06648E}"/>
              </a:ext>
            </a:extLst>
          </p:cNvPr>
          <p:cNvSpPr>
            <a:spLocks noGrp="1"/>
          </p:cNvSpPr>
          <p:nvPr/>
        </p:nvSpPr>
        <p:spPr>
          <a:xfrm>
            <a:off x="1762125" y="5476875"/>
            <a:ext cx="12811125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What should be used in the interim, knowing that interim measures tend to become permanent?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B5CC15-F390-4911-8224-312F269D64ED}"/>
              </a:ext>
            </a:extLst>
          </p:cNvPr>
          <p:cNvSpPr>
            <a:spLocks noGrp="1"/>
          </p:cNvSpPr>
          <p:nvPr/>
        </p:nvSpPr>
        <p:spPr>
          <a:xfrm>
            <a:off x="1762125" y="6543675"/>
            <a:ext cx="12811125" cy="9525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1A619C-58E0-4045-9CC2-267F1E7C40B6}"/>
              </a:ext>
            </a:extLst>
          </p:cNvPr>
          <p:cNvSpPr>
            <a:spLocks noGrp="1"/>
          </p:cNvSpPr>
          <p:nvPr/>
        </p:nvSpPr>
        <p:spPr>
          <a:xfrm>
            <a:off x="666750" y="6715125"/>
            <a:ext cx="8096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3C969-20AF-4CEC-88C4-9DE2FAEC610E}"/>
              </a:ext>
            </a:extLst>
          </p:cNvPr>
          <p:cNvSpPr>
            <a:spLocks noGrp="1"/>
          </p:cNvSpPr>
          <p:nvPr/>
        </p:nvSpPr>
        <p:spPr>
          <a:xfrm>
            <a:off x="1762125" y="6715124"/>
            <a:ext cx="12811125" cy="14097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Is there an opportunity for Parties to use a UN Scale and oversee the development of </a:t>
            </a:r>
            <a:r>
              <a:rPr lang="en-GB"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Biodiversity </a:t>
            </a:r>
            <a:r>
              <a:rPr lang="en-GB" sz="2550" b="0" dirty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Stewardship Index under the Convention in which everyone can have confidence?</a:t>
            </a:r>
          </a:p>
          <a:p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endParaRPr sz="2550" b="0" dirty="0">
              <a:solidFill>
                <a:srgbClr val="193445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179942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497</Words>
  <Application>Microsoft Macintosh PowerPoint</Application>
  <DocSecurity>0</DocSecurity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Paul David Oldham</cp:lastModifiedBy>
  <cp:revision>7</cp:revision>
  <dcterms:created xsi:type="dcterms:W3CDTF">2026-10-13T09:54:24Z</dcterms:created>
  <dcterms:modified xsi:type="dcterms:W3CDTF">2026-10-14T07:51:45Z</dcterms:modified>
</cp:coreProperties>
</file>